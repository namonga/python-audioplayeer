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6" r:id="rId17"/>
    <p:sldId id="273" r:id="rId18"/>
    <p:sldId id="274" r:id="rId19"/>
    <p:sldId id="275" r:id="rId20"/>
    <p:sldId id="272" r:id="rId2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A99D3"/>
    <a:srgbClr val="61A1DA"/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26349F-ED00-42F5-9746-BD8C494434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0235881-5B29-4577-A22C-16DA7F88BD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7BD862B-7753-4B83-8D5F-93903405F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CAEEF-62DE-4533-A3B5-BE4AAE0D1D18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4348D47-28F1-47C0-8019-500D78AF8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549535E-430E-405C-9599-8F12901E4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DA8F6-AD02-4DA2-B921-48B8C7A372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39715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85AC56-AC1D-426F-9EE8-BD772AC85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BEFFA01-51A7-4B36-B518-BCBCA7C95E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49DBD8F-B55C-405D-A317-3204A74B3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CAEEF-62DE-4533-A3B5-BE4AAE0D1D18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F385C6F-F8C6-4CA2-A66E-39364ADB4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AAD163A-4069-4CA6-8353-8C04A5749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DA8F6-AD02-4DA2-B921-48B8C7A372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7394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B9CF91-5C8E-4EEB-9CFD-14356CC8C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BF57F4F-D427-448A-A26C-A126D9EFA9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D5FB750-1804-445E-8DC2-552857A42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CAEEF-62DE-4533-A3B5-BE4AAE0D1D18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7830937-8179-4753-A264-0FE507314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6E2CB50-CA09-4800-9EE1-B83B9534E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DA8F6-AD02-4DA2-B921-48B8C7A372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7142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41BD17-7689-484D-96B7-EF8C79D41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58E1DB2-DFF1-456B-9AED-26A4734004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961480C-84BC-4390-91AF-0233E6D5EB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53DFD1D-A337-4843-AC00-5AF241537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CAEEF-62DE-4533-A3B5-BE4AAE0D1D18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574758B-FC2B-4924-80AF-8399F5140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9FB0704-A0C1-4698-B7BC-0349E0B8B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DA8F6-AD02-4DA2-B921-48B8C7A372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4781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4ADC8A-A02D-44C6-93ED-EF0AFB8CE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52E38F4-4949-481B-AA20-423CB146F4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02E3CEB-0F3E-4293-8B2F-8C53AAC36F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57680A6-1582-4CFC-90DD-592E94DF5D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B73D102-D282-495E-B539-96FE968B55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27D96D5-130B-4CB0-A41C-54493BCA6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CAEEF-62DE-4533-A3B5-BE4AAE0D1D18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8D10057-C305-4070-B69A-0CE5F6A06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49D3DF9-FBD0-45B4-A782-BE96DAD4B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DA8F6-AD02-4DA2-B921-48B8C7A372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3253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53818-8C69-4FC2-A6B0-8FDAF14B1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5F3C553-0F4B-44F8-9636-3F1CA6411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CAEEF-62DE-4533-A3B5-BE4AAE0D1D18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F4ECD50-433F-4A75-8B06-AEFDE325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E6AE701-2C61-4176-861F-AA09EB90B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DA8F6-AD02-4DA2-B921-48B8C7A372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061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8D99115-C9A4-405A-B33C-EB2C19FD8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CAEEF-62DE-4533-A3B5-BE4AAE0D1D18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F4B29F2-996C-460E-93AA-9EFAACB3A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33AECA0-682B-48C5-911E-B479B543D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DA8F6-AD02-4DA2-B921-48B8C7A372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4653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415FF1-8CAA-4BD2-936F-1A92917C9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AB28BA-A9A9-420A-9DFD-3C88FDFF0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940CBBD-6A1B-43E1-9E30-3190ADCFCD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5567BC5-A15A-40D3-8D9F-2005CF1FB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CAEEF-62DE-4533-A3B5-BE4AAE0D1D18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D5C286D-2EA3-49B7-ACE6-1CAE04C62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5705D75-CABB-4BCB-B330-7FBB584DA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DA8F6-AD02-4DA2-B921-48B8C7A372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3200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A6C240-81D6-46FC-89AA-C40A9C06B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F5BE13A-E769-4E7C-AA39-478383CD6D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828042B-E871-4902-BA0C-1A66761A83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CFC2F0C-CD3C-4F8A-8D61-E4CC91E39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CAEEF-62DE-4533-A3B5-BE4AAE0D1D18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3DBC798-84C7-4516-A3A6-807A0D626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5EA610B-93F1-4CA2-9C4F-2F3274EB9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DA8F6-AD02-4DA2-B921-48B8C7A372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6453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D55F5A-A89D-49DB-9602-00B5C5E03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D8B6D23-0222-4BD0-8F3E-9986454047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4BDA88A-2229-4ED6-9BDA-5515FA31F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CAEEF-62DE-4533-A3B5-BE4AAE0D1D18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9A24D4A-9A52-464B-A107-43A38A0C4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1BEC32D-1131-4166-87D0-A97AEEA93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DA8F6-AD02-4DA2-B921-48B8C7A372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6263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61E03F8E-C6EF-4024-A04A-98FF3B7521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9241D0C-60B3-4199-9986-32E5EC15F3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0DE3735-9208-485A-8C12-447D65341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CAEEF-62DE-4533-A3B5-BE4AAE0D1D18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A29D2BC-10EF-48CF-8785-9E27E802B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1057543-583D-4B54-834F-9C6687FE0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DA8F6-AD02-4DA2-B921-48B8C7A372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5814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136851-A856-4370-8381-19E7BB8E2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DD2C7B1-100C-495C-9398-DCC4AD5D7F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5DBF27E-D377-491A-8914-6B31C3E824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6CAEEF-62DE-4533-A3B5-BE4AAE0D1D18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0EB6AEE-61FD-4EA7-95DB-9FDD38FB3E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0022C6E-39F4-4017-946B-69633AA703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CDA8F6-AD02-4DA2-B921-48B8C7A372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3489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F5FA23E-93D7-4C93-A2C5-6BD22A50E5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87208A-67C5-4197-B5C9-F54867E48B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41400"/>
            <a:ext cx="9144000" cy="2387600"/>
          </a:xfrm>
        </p:spPr>
        <p:txBody>
          <a:bodyPr>
            <a:noAutofit/>
          </a:bodyPr>
          <a:lstStyle/>
          <a:p>
            <a:r>
              <a:rPr lang="ru-RU" sz="4000" b="1" dirty="0">
                <a:latin typeface="Georgia" panose="02040502050405020303" pitchFamily="18" charset="0"/>
              </a:rPr>
              <a:t>Десктопный проигрыватель с SVG-интерфейсом «</a:t>
            </a:r>
            <a:r>
              <a:rPr lang="ru-RU" sz="4000" b="1" dirty="0" err="1">
                <a:latin typeface="Georgia" panose="02040502050405020303" pitchFamily="18" charset="0"/>
              </a:rPr>
              <a:t>AuddioPlayer</a:t>
            </a:r>
            <a:r>
              <a:rPr lang="ru-RU" sz="4000" b="1" dirty="0">
                <a:latin typeface="Georgia" panose="02040502050405020303" pitchFamily="18" charset="0"/>
              </a:rPr>
              <a:t>»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938EC79-8802-48F4-ABAA-93FF600E86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17176" y="4530115"/>
            <a:ext cx="9144000" cy="1655762"/>
          </a:xfrm>
        </p:spPr>
        <p:txBody>
          <a:bodyPr>
            <a:normAutofit/>
          </a:bodyPr>
          <a:lstStyle/>
          <a:p>
            <a:pPr algn="r"/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Выполнили: Алифанов Даниил,</a:t>
            </a:r>
            <a:b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Гущин Кирилл,</a:t>
            </a:r>
            <a:b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dirty="0" err="1">
                <a:latin typeface="Verdana" panose="020B0604030504040204" pitchFamily="34" charset="0"/>
                <a:ea typeface="Verdana" panose="020B0604030504040204" pitchFamily="34" charset="0"/>
              </a:rPr>
              <a:t>Иматшоев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 Руслан</a:t>
            </a:r>
            <a:b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</a:b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09043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28606FA-229D-4949-9ACB-390AD23344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62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6A615B-A26A-4D89-B8D3-563BA04BF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3466" y="237636"/>
            <a:ext cx="10515600" cy="1325563"/>
          </a:xfrm>
        </p:spPr>
        <p:txBody>
          <a:bodyPr/>
          <a:lstStyle/>
          <a:p>
            <a:r>
              <a:rPr lang="ru-RU" b="1" dirty="0">
                <a:latin typeface="Georgia" panose="02040502050405020303" pitchFamily="18" charset="0"/>
              </a:rPr>
              <a:t>Цель и актуальность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D042056-F362-4FED-878A-ED684CA010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287" y="2115649"/>
            <a:ext cx="9404838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Цель: Разработать минималистичный десктопный аудиоплеер с оригинальным интерфейсом на SVG, прозрачным окном без рамок и основными функциями управления музыкой</a:t>
            </a:r>
          </a:p>
          <a:p>
            <a:pPr marL="0" indent="0">
              <a:buNone/>
            </a:pP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Актуальность:</a:t>
            </a:r>
          </a:p>
          <a:p>
            <a:pPr marL="0" indent="0">
              <a:buNone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- </a:t>
            </a: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Рост популярности кастомизации рабочего стола и виджетов</a:t>
            </a:r>
          </a:p>
          <a:p>
            <a:pPr marL="0" indent="0">
              <a:buNone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- </a:t>
            </a: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Потребность в лёгком плеере, который не занимает много места и не отвлекает</a:t>
            </a:r>
          </a:p>
          <a:p>
            <a:pPr marL="0" indent="0">
              <a:buNone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- </a:t>
            </a: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Отсутствие готовых решений с полностью векторным интерфейсом и возможностью масштабирования</a:t>
            </a:r>
          </a:p>
        </p:txBody>
      </p:sp>
    </p:spTree>
    <p:extLst>
      <p:ext uri="{BB962C8B-B14F-4D97-AF65-F5344CB8AC3E}">
        <p14:creationId xmlns:p14="http://schemas.microsoft.com/office/powerpoint/2010/main" val="16169568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6A06E6F-9CC0-4C3B-9A82-6E3B8BA586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BE1DDA-6331-4607-B967-FA28822A7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1175" y="160654"/>
            <a:ext cx="10515600" cy="1325563"/>
          </a:xfrm>
        </p:spPr>
        <p:txBody>
          <a:bodyPr/>
          <a:lstStyle/>
          <a:p>
            <a:r>
              <a:rPr lang="ru-RU" b="1" dirty="0">
                <a:latin typeface="Georgia" panose="02040502050405020303" pitchFamily="18" charset="0"/>
              </a:rPr>
              <a:t>Задачи проекта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4BD2A2E1-C517-47B1-BCF2-DA1811F0E4B4}"/>
              </a:ext>
            </a:extLst>
          </p:cNvPr>
          <p:cNvSpPr txBox="1">
            <a:spLocks/>
          </p:cNvSpPr>
          <p:nvPr/>
        </p:nvSpPr>
        <p:spPr>
          <a:xfrm>
            <a:off x="653562" y="2229949"/>
            <a:ext cx="9404838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1. </a:t>
            </a: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Спроектировать прозрачное </a:t>
            </a:r>
            <a:r>
              <a:rPr lang="ru-RU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frameless</a:t>
            </a: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-окно с возможностью перетаскивания</a:t>
            </a:r>
          </a:p>
          <a:p>
            <a:pPr marL="0" indent="0">
              <a:buNone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2. </a:t>
            </a: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Интегрировать SVG-разметку в приложение через веб-движок</a:t>
            </a:r>
          </a:p>
          <a:p>
            <a:pPr marL="0" indent="0">
              <a:buNone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3. </a:t>
            </a: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Настроить двустороннюю связь Python и JavaScript (</a:t>
            </a:r>
            <a:r>
              <a:rPr lang="ru-RU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QWebChannel</a:t>
            </a: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)</a:t>
            </a:r>
          </a:p>
          <a:p>
            <a:pPr marL="0" indent="0">
              <a:buNone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4. </a:t>
            </a: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Реализовать логику воспроизведения аудиофайлов (плейлист, управление, таймер)</a:t>
            </a:r>
          </a:p>
          <a:p>
            <a:pPr marL="0" indent="0">
              <a:buNone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5. </a:t>
            </a: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Добавить масштабирование интерфейса и перетаскивание окна</a:t>
            </a:r>
          </a:p>
          <a:p>
            <a:pPr marL="0" indent="0">
              <a:buNone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6. </a:t>
            </a: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Провести тестирование на целевых платформах</a:t>
            </a:r>
          </a:p>
        </p:txBody>
      </p:sp>
    </p:spTree>
    <p:extLst>
      <p:ext uri="{BB962C8B-B14F-4D97-AF65-F5344CB8AC3E}">
        <p14:creationId xmlns:p14="http://schemas.microsoft.com/office/powerpoint/2010/main" val="30311408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EC93ED2-2D1A-4E5F-9970-E7D03F9962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CC155A-AE68-4764-863C-7A8EC3B1D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4050" y="222250"/>
            <a:ext cx="10515600" cy="1325563"/>
          </a:xfrm>
        </p:spPr>
        <p:txBody>
          <a:bodyPr/>
          <a:lstStyle/>
          <a:p>
            <a:r>
              <a:rPr lang="ru-RU" b="1" dirty="0">
                <a:latin typeface="Georgia" panose="02040502050405020303" pitchFamily="18" charset="0"/>
              </a:rPr>
              <a:t>Функциональные требования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7703BD19-53A4-434D-B00D-1FC430E946BA}"/>
              </a:ext>
            </a:extLst>
          </p:cNvPr>
          <p:cNvSpPr txBox="1">
            <a:spLocks/>
          </p:cNvSpPr>
          <p:nvPr/>
        </p:nvSpPr>
        <p:spPr>
          <a:xfrm>
            <a:off x="653562" y="2284412"/>
            <a:ext cx="9404838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</a:rPr>
              <a:t>1. Воспроизведение форматов: .mp3, .</a:t>
            </a:r>
            <a:r>
              <a:rPr lang="ru-RU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wav</a:t>
            </a: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</a:rPr>
              <a:t>, .</a:t>
            </a:r>
            <a:r>
              <a:rPr lang="ru-RU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ogg</a:t>
            </a: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</a:rPr>
              <a:t>, .m4a, .</a:t>
            </a:r>
            <a:r>
              <a:rPr lang="ru-RU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flac</a:t>
            </a:r>
            <a:endParaRPr lang="ru-RU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indent="0">
              <a:buNone/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</a:rPr>
              <a:t>2. Выбор нескольких файлов через диалог для создания плейлиста</a:t>
            </a:r>
          </a:p>
          <a:p>
            <a:pPr marL="0" indent="0">
              <a:buNone/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</a:rPr>
              <a:t>3. Управление: Play/</a:t>
            </a:r>
            <a:r>
              <a:rPr lang="ru-RU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Pause</a:t>
            </a: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</a:rPr>
              <a:t>, Stop, перемотка ±5 секунд, следующий трек</a:t>
            </a:r>
          </a:p>
          <a:p>
            <a:pPr marL="0" indent="0">
              <a:buNone/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</a:rPr>
              <a:t>4. Автоматический переход к следующему треку по окончании текущего</a:t>
            </a:r>
          </a:p>
          <a:p>
            <a:pPr marL="0" indent="0">
              <a:buNone/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</a:rPr>
              <a:t>5. Отображение имени файла и таймера (ММ:СС / ММ:СС)</a:t>
            </a:r>
          </a:p>
          <a:p>
            <a:pPr marL="0" indent="0">
              <a:buNone/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</a:rPr>
              <a:t>6. Масштабирование окна кнопками «+» / «–» (от 1.0× до любого значения)</a:t>
            </a:r>
          </a:p>
          <a:p>
            <a:pPr marL="0" indent="0">
              <a:buNone/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</a:rPr>
              <a:t>7. Перетаскивание окна за специально обозначенные области.</a:t>
            </a:r>
          </a:p>
          <a:p>
            <a:pPr marL="0" indent="0">
              <a:buNone/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</a:rPr>
              <a:t>8. Отладочный режим (подсветка активных элементов и вывод логов)</a:t>
            </a:r>
          </a:p>
        </p:txBody>
      </p:sp>
    </p:spTree>
    <p:extLst>
      <p:ext uri="{BB962C8B-B14F-4D97-AF65-F5344CB8AC3E}">
        <p14:creationId xmlns:p14="http://schemas.microsoft.com/office/powerpoint/2010/main" val="1027744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F156004-3644-4211-864E-6F147A8C6C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183ADC-3337-47A2-BD0D-9A46C2A20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269875"/>
            <a:ext cx="10515600" cy="1325563"/>
          </a:xfrm>
        </p:spPr>
        <p:txBody>
          <a:bodyPr/>
          <a:lstStyle/>
          <a:p>
            <a:r>
              <a:rPr lang="ru-RU" b="1" dirty="0">
                <a:latin typeface="Georgia" panose="02040502050405020303" pitchFamily="18" charset="0"/>
              </a:rPr>
              <a:t>Нефункциональные требования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4155552B-5CD6-4F6E-B1E3-E7A0990CBBB6}"/>
              </a:ext>
            </a:extLst>
          </p:cNvPr>
          <p:cNvSpPr txBox="1">
            <a:spLocks/>
          </p:cNvSpPr>
          <p:nvPr/>
        </p:nvSpPr>
        <p:spPr>
          <a:xfrm>
            <a:off x="663087" y="2506662"/>
            <a:ext cx="9404838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1. Кроссплатформенность: Windows, </a:t>
            </a:r>
            <a:r>
              <a:rPr lang="ru-RU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macOS</a:t>
            </a: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, Linux.</a:t>
            </a:r>
          </a:p>
          <a:p>
            <a:pPr marL="0" indent="0">
              <a:buNone/>
            </a:pP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2. Прозрачное окно без стандартных рамок, всегда поверх остальных окон.</a:t>
            </a:r>
          </a:p>
          <a:p>
            <a:pPr marL="0" indent="0">
              <a:buNone/>
            </a:pP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3. Отзывчивость: интерфейс не должен зависать при выполнении операций с файлами или воспроизведении.</a:t>
            </a:r>
          </a:p>
          <a:p>
            <a:pPr marL="0" indent="0">
              <a:buNone/>
            </a:pP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4. Расширяемость: добавление новых элементов интерфейса не требует изменения кода (достаточно правки SVG).</a:t>
            </a:r>
          </a:p>
          <a:p>
            <a:pPr marL="0" indent="0">
              <a:buNone/>
            </a:pP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5. Удобство: все элементы управления интуитивно понятны, не требуют обучения.</a:t>
            </a:r>
          </a:p>
        </p:txBody>
      </p:sp>
    </p:spTree>
    <p:extLst>
      <p:ext uri="{BB962C8B-B14F-4D97-AF65-F5344CB8AC3E}">
        <p14:creationId xmlns:p14="http://schemas.microsoft.com/office/powerpoint/2010/main" val="51885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08F185B-0B56-4684-9E14-9B8AE16AF9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4775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DE2884-5E50-4F4A-89EB-C2D2343BB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0350" y="104775"/>
            <a:ext cx="10515600" cy="1325563"/>
          </a:xfrm>
        </p:spPr>
        <p:txBody>
          <a:bodyPr/>
          <a:lstStyle/>
          <a:p>
            <a:r>
              <a:rPr lang="ru-RU" b="1" dirty="0">
                <a:latin typeface="Georgia" panose="02040502050405020303" pitchFamily="18" charset="0"/>
              </a:rPr>
              <a:t>Используемые технологии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5F09A06-D2AF-4DFC-9BF8-5B2C45B188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6350" y="2159000"/>
            <a:ext cx="6019800" cy="4351338"/>
          </a:xfrm>
        </p:spPr>
        <p:txBody>
          <a:bodyPr>
            <a:normAutofit/>
          </a:bodyPr>
          <a:lstStyle/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Python 3.6+	</a:t>
            </a: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PyQt6	</a:t>
            </a: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</a:rPr>
              <a:t>QtWebEngineView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	</a:t>
            </a: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</a:rPr>
              <a:t>QWebChannel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	</a:t>
            </a: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</a:rPr>
              <a:t>QMediaPlayer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 +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</a:rPr>
              <a:t>QAudioOutput</a:t>
            </a: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SVG + CSS + JavaScript</a:t>
            </a: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17136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BA3A168-2EE4-4F79-8613-ACA572D3B7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3395B7-A73E-4361-9700-7EE44970E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7425" y="184149"/>
            <a:ext cx="10515600" cy="1325563"/>
          </a:xfrm>
        </p:spPr>
        <p:txBody>
          <a:bodyPr/>
          <a:lstStyle/>
          <a:p>
            <a:r>
              <a:rPr lang="ru-RU" b="1" dirty="0">
                <a:latin typeface="Georgia" panose="02040502050405020303" pitchFamily="18" charset="0"/>
              </a:rPr>
              <a:t>Анализ аналогов</a:t>
            </a:r>
          </a:p>
        </p:txBody>
      </p:sp>
      <p:graphicFrame>
        <p:nvGraphicFramePr>
          <p:cNvPr id="5" name="Таблица 5">
            <a:extLst>
              <a:ext uri="{FF2B5EF4-FFF2-40B4-BE49-F238E27FC236}">
                <a16:creationId xmlns:a16="http://schemas.microsoft.com/office/drawing/2014/main" id="{B436F28F-C3AD-45B5-BF45-179164ACCE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7457483"/>
              </p:ext>
            </p:extLst>
          </p:nvPr>
        </p:nvGraphicFramePr>
        <p:xfrm>
          <a:off x="228600" y="1483518"/>
          <a:ext cx="9486900" cy="52578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371725">
                  <a:extLst>
                    <a:ext uri="{9D8B030D-6E8A-4147-A177-3AD203B41FA5}">
                      <a16:colId xmlns:a16="http://schemas.microsoft.com/office/drawing/2014/main" val="3118512579"/>
                    </a:ext>
                  </a:extLst>
                </a:gridCol>
                <a:gridCol w="2371725">
                  <a:extLst>
                    <a:ext uri="{9D8B030D-6E8A-4147-A177-3AD203B41FA5}">
                      <a16:colId xmlns:a16="http://schemas.microsoft.com/office/drawing/2014/main" val="3026671476"/>
                    </a:ext>
                  </a:extLst>
                </a:gridCol>
                <a:gridCol w="2371725">
                  <a:extLst>
                    <a:ext uri="{9D8B030D-6E8A-4147-A177-3AD203B41FA5}">
                      <a16:colId xmlns:a16="http://schemas.microsoft.com/office/drawing/2014/main" val="45066616"/>
                    </a:ext>
                  </a:extLst>
                </a:gridCol>
                <a:gridCol w="2371725">
                  <a:extLst>
                    <a:ext uri="{9D8B030D-6E8A-4147-A177-3AD203B41FA5}">
                      <a16:colId xmlns:a16="http://schemas.microsoft.com/office/drawing/2014/main" val="3059691638"/>
                    </a:ext>
                  </a:extLst>
                </a:gridCol>
              </a:tblGrid>
              <a:tr h="435075">
                <a:tc>
                  <a:txBody>
                    <a:bodyPr/>
                    <a:lstStyle/>
                    <a:p>
                      <a:pPr algn="l"/>
                      <a:r>
                        <a:rPr lang="ru-RU" sz="1800" b="0" dirty="0">
                          <a:effectLst/>
                        </a:rPr>
                        <a:t>Критерий</a:t>
                      </a:r>
                      <a:endParaRPr lang="ru-RU" sz="1800" b="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>
                          <a:effectLst/>
                        </a:rPr>
                        <a:t>AIMP</a:t>
                      </a:r>
                      <a:endParaRPr lang="en-US" sz="1800" b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effectLst/>
                        </a:rPr>
                        <a:t>FooBar2000</a:t>
                      </a:r>
                      <a:endParaRPr lang="en-US" sz="1800" b="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b="1" dirty="0">
                          <a:effectLst/>
                        </a:rPr>
                        <a:t>Наш плеер</a:t>
                      </a:r>
                      <a:endParaRPr lang="ru-RU" sz="1800" b="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2856423763"/>
                  </a:ext>
                </a:extLst>
              </a:tr>
              <a:tr h="648173">
                <a:tc>
                  <a:txBody>
                    <a:bodyPr/>
                    <a:lstStyle/>
                    <a:p>
                      <a:r>
                        <a:rPr lang="ru-RU" sz="1800" b="0">
                          <a:effectLst/>
                        </a:rPr>
                        <a:t>Прозрачность окна</a:t>
                      </a:r>
                      <a:endParaRPr lang="ru-RU" sz="1800" b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800" b="0" dirty="0">
                          <a:effectLst/>
                        </a:rPr>
                        <a:t>Частичная (скины)</a:t>
                      </a:r>
                      <a:endParaRPr lang="ru-RU" sz="1800" b="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800" b="0" dirty="0">
                          <a:effectLst/>
                        </a:rPr>
                        <a:t>Нет (только стандартное окно)</a:t>
                      </a:r>
                      <a:endParaRPr lang="ru-RU" sz="1800" b="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800" b="1">
                          <a:effectLst/>
                        </a:rPr>
                        <a:t>Полная (</a:t>
                      </a:r>
                      <a:r>
                        <a:rPr lang="en-US" sz="1800" b="1">
                          <a:effectLst/>
                        </a:rPr>
                        <a:t>WA_TranslucentBackground)</a:t>
                      </a:r>
                      <a:endParaRPr lang="en-US" sz="1800" b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084296970"/>
                  </a:ext>
                </a:extLst>
              </a:tr>
              <a:tr h="861270">
                <a:tc>
                  <a:txBody>
                    <a:bodyPr/>
                    <a:lstStyle/>
                    <a:p>
                      <a:r>
                        <a:rPr lang="ru-RU" sz="1800" b="0" dirty="0">
                          <a:effectLst/>
                        </a:rPr>
                        <a:t>Интерфейс на </a:t>
                      </a:r>
                      <a:r>
                        <a:rPr lang="en-US" sz="1800" b="0" dirty="0">
                          <a:effectLst/>
                        </a:rPr>
                        <a:t>SVG</a:t>
                      </a:r>
                      <a:endParaRPr lang="en-US" sz="1800" b="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800" b="0" dirty="0">
                          <a:effectLst/>
                        </a:rPr>
                        <a:t>Нет (растровые скины)</a:t>
                      </a:r>
                      <a:endParaRPr lang="ru-RU" sz="1800" b="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800" b="0" dirty="0">
                          <a:effectLst/>
                        </a:rPr>
                        <a:t>Нет (элементы управления через стандартные </a:t>
                      </a:r>
                      <a:r>
                        <a:rPr lang="ru-RU" sz="1800" b="0" dirty="0" err="1">
                          <a:effectLst/>
                        </a:rPr>
                        <a:t>контролы</a:t>
                      </a:r>
                      <a:r>
                        <a:rPr lang="ru-RU" sz="1800" b="0" dirty="0">
                          <a:effectLst/>
                        </a:rPr>
                        <a:t>)</a:t>
                      </a:r>
                      <a:endParaRPr lang="ru-RU" sz="1800" b="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800" b="1" dirty="0">
                          <a:effectLst/>
                        </a:rPr>
                        <a:t>Да </a:t>
                      </a:r>
                      <a:endParaRPr lang="en-US" sz="1800" b="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4138636118"/>
                  </a:ext>
                </a:extLst>
              </a:tr>
              <a:tr h="435075">
                <a:tc>
                  <a:txBody>
                    <a:bodyPr/>
                    <a:lstStyle/>
                    <a:p>
                      <a:r>
                        <a:rPr lang="ru-RU" sz="1800" b="0">
                          <a:effectLst/>
                        </a:rPr>
                        <a:t>Кроссплатформенность</a:t>
                      </a:r>
                      <a:endParaRPr lang="ru-RU" sz="1800" b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effectLst/>
                        </a:rPr>
                        <a:t>Windows</a:t>
                      </a:r>
                      <a:endParaRPr lang="en-US" sz="1800" b="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sz="1800" b="0">
                          <a:effectLst/>
                        </a:rPr>
                        <a:t>Windows, macOS, Linux</a:t>
                      </a:r>
                      <a:endParaRPr lang="en-US" sz="1800" b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effectLst/>
                        </a:rPr>
                        <a:t>Windows, macOS, Linux</a:t>
                      </a:r>
                      <a:endParaRPr lang="en-US" sz="1800" b="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855279594"/>
                  </a:ext>
                </a:extLst>
              </a:tr>
              <a:tr h="435075">
                <a:tc>
                  <a:txBody>
                    <a:bodyPr/>
                    <a:lstStyle/>
                    <a:p>
                      <a:r>
                        <a:rPr lang="ru-RU" sz="1800" b="0">
                          <a:effectLst/>
                        </a:rPr>
                        <a:t>Открытый исходный код</a:t>
                      </a:r>
                      <a:endParaRPr lang="ru-RU" sz="1800" b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800" b="0">
                          <a:effectLst/>
                        </a:rPr>
                        <a:t>Нет</a:t>
                      </a:r>
                      <a:endParaRPr lang="ru-RU" sz="1800" b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800" b="0" dirty="0">
                          <a:effectLst/>
                        </a:rPr>
                        <a:t>Да</a:t>
                      </a:r>
                      <a:endParaRPr lang="ru-RU" sz="1800" b="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800" b="1">
                          <a:effectLst/>
                        </a:rPr>
                        <a:t>Да</a:t>
                      </a:r>
                      <a:endParaRPr lang="ru-RU" sz="1800" b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281615701"/>
                  </a:ext>
                </a:extLst>
              </a:tr>
              <a:tr h="861270">
                <a:tc>
                  <a:txBody>
                    <a:bodyPr/>
                    <a:lstStyle/>
                    <a:p>
                      <a:r>
                        <a:rPr lang="ru-RU" sz="1800" b="0">
                          <a:effectLst/>
                        </a:rPr>
                        <a:t>Лёгкость кастомизации</a:t>
                      </a:r>
                      <a:endParaRPr lang="ru-RU" sz="1800" b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800" b="0">
                          <a:effectLst/>
                        </a:rPr>
                        <a:t>Средняя (требует знания формата скинов)</a:t>
                      </a:r>
                      <a:endParaRPr lang="ru-RU" sz="1800" b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800" b="0" dirty="0">
                          <a:effectLst/>
                        </a:rPr>
                        <a:t>Средняя (через панели и плагины)</a:t>
                      </a:r>
                      <a:endParaRPr lang="ru-RU" sz="1800" b="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800" b="1" dirty="0">
                          <a:effectLst/>
                        </a:rPr>
                        <a:t>Максимальная (редактирование одного </a:t>
                      </a:r>
                      <a:r>
                        <a:rPr lang="en-US" sz="1800" b="1" dirty="0">
                          <a:effectLst/>
                        </a:rPr>
                        <a:t>SVG-</a:t>
                      </a:r>
                      <a:r>
                        <a:rPr lang="ru-RU" sz="1800" b="1" dirty="0">
                          <a:effectLst/>
                        </a:rPr>
                        <a:t>файла)</a:t>
                      </a:r>
                      <a:endParaRPr lang="ru-RU" sz="1800" b="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3356586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28098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B1396C1-45F1-4451-8AE2-421ACD8E23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09C01F-46A7-454B-8CAC-E1B40D1D2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b="1" dirty="0">
                <a:latin typeface="Georgia" panose="02040502050405020303" pitchFamily="18" charset="0"/>
              </a:rPr>
              <a:t>Архитектура приложения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09566C8C-D548-40E4-969B-4DB224624E57}"/>
              </a:ext>
            </a:extLst>
          </p:cNvPr>
          <p:cNvSpPr/>
          <p:nvPr/>
        </p:nvSpPr>
        <p:spPr>
          <a:xfrm>
            <a:off x="638175" y="1152526"/>
            <a:ext cx="10715625" cy="3125786"/>
          </a:xfrm>
          <a:prstGeom prst="rect">
            <a:avLst/>
          </a:prstGeom>
          <a:solidFill>
            <a:schemeClr val="bg1"/>
          </a:solidFill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54D9DC4-4B83-472F-9367-9E4C108863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1472036"/>
            <a:ext cx="9725025" cy="2434377"/>
          </a:xfrm>
          <a:prstGeom prst="rect">
            <a:avLst/>
          </a:prstGeom>
        </p:spPr>
      </p:pic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69ED556A-1055-4C65-A36B-B2143D208A06}"/>
              </a:ext>
            </a:extLst>
          </p:cNvPr>
          <p:cNvSpPr/>
          <p:nvPr/>
        </p:nvSpPr>
        <p:spPr>
          <a:xfrm>
            <a:off x="838200" y="4524685"/>
            <a:ext cx="7729538" cy="1812305"/>
          </a:xfrm>
          <a:prstGeom prst="roundRect">
            <a:avLst/>
          </a:prstGeom>
          <a:solidFill>
            <a:srgbClr val="5A99D3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клик по SVG-элементу генерирует JSON, который передаётся в Python, вызывается нужный метод логики, затем Python обновляет интерфейс, выполняя JavaScript-код</a:t>
            </a:r>
          </a:p>
        </p:txBody>
      </p:sp>
    </p:spTree>
    <p:extLst>
      <p:ext uri="{BB962C8B-B14F-4D97-AF65-F5344CB8AC3E}">
        <p14:creationId xmlns:p14="http://schemas.microsoft.com/office/powerpoint/2010/main" val="34737638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572325F-69A5-45D5-8F25-6AD7F6D858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3DB5BC4-3B6A-444A-BB79-19E453F427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509" y="0"/>
            <a:ext cx="106129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3685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271CC6C-D354-4BB8-85B3-48EAAA8CF0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197A1D-888D-4608-A7FE-DCF8627EC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575" y="288925"/>
            <a:ext cx="10515600" cy="1325563"/>
          </a:xfrm>
        </p:spPr>
        <p:txBody>
          <a:bodyPr/>
          <a:lstStyle/>
          <a:p>
            <a:r>
              <a:rPr lang="ru-RU" b="1" dirty="0">
                <a:latin typeface="Georgia" panose="02040502050405020303" pitchFamily="18" charset="0"/>
              </a:rPr>
              <a:t>Тестирование</a:t>
            </a:r>
          </a:p>
        </p:txBody>
      </p:sp>
      <p:graphicFrame>
        <p:nvGraphicFramePr>
          <p:cNvPr id="7" name="Таблица 7">
            <a:extLst>
              <a:ext uri="{FF2B5EF4-FFF2-40B4-BE49-F238E27FC236}">
                <a16:creationId xmlns:a16="http://schemas.microsoft.com/office/drawing/2014/main" id="{84C97345-167E-4944-94A8-10CF34E625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7526112"/>
              </p:ext>
            </p:extLst>
          </p:nvPr>
        </p:nvGraphicFramePr>
        <p:xfrm>
          <a:off x="183356" y="1495424"/>
          <a:ext cx="4750594" cy="445131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375297">
                  <a:extLst>
                    <a:ext uri="{9D8B030D-6E8A-4147-A177-3AD203B41FA5}">
                      <a16:colId xmlns:a16="http://schemas.microsoft.com/office/drawing/2014/main" val="1410530299"/>
                    </a:ext>
                  </a:extLst>
                </a:gridCol>
                <a:gridCol w="2375297">
                  <a:extLst>
                    <a:ext uri="{9D8B030D-6E8A-4147-A177-3AD203B41FA5}">
                      <a16:colId xmlns:a16="http://schemas.microsoft.com/office/drawing/2014/main" val="1878603811"/>
                    </a:ext>
                  </a:extLst>
                </a:gridCol>
              </a:tblGrid>
              <a:tr h="411019">
                <a:tc>
                  <a:txBody>
                    <a:bodyPr/>
                    <a:lstStyle/>
                    <a:p>
                      <a:pPr algn="l"/>
                      <a:r>
                        <a:rPr lang="ru-RU" sz="1100" b="0" dirty="0">
                          <a:effectLst/>
                        </a:rPr>
                        <a:t>Тест-кейс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b="0" dirty="0">
                          <a:effectLst/>
                        </a:rPr>
                        <a:t>Проверка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724813541"/>
                  </a:ext>
                </a:extLst>
              </a:tr>
              <a:tr h="542069"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1) Запуск приложения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Окно отображается поверх всех окон, прозрачный фон – </a:t>
                      </a:r>
                      <a:r>
                        <a:rPr lang="ru-RU" sz="1100" b="1" dirty="0">
                          <a:effectLst/>
                        </a:rPr>
                        <a:t>Успешно</a:t>
                      </a:r>
                      <a:endParaRPr lang="ru-RU" sz="1100" b="1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878387836"/>
                  </a:ext>
                </a:extLst>
              </a:tr>
              <a:tr h="673118"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2) Выбор нескольких аудиофайлов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Плейлист заполнен, начинается воспроизведение первого трека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56585593"/>
                  </a:ext>
                </a:extLst>
              </a:tr>
              <a:tr h="673118"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3) </a:t>
                      </a:r>
                      <a:r>
                        <a:rPr lang="en-US" sz="1100" b="0" dirty="0">
                          <a:effectLst/>
                        </a:rPr>
                        <a:t>Play/Pause</a:t>
                      </a:r>
                      <a:endParaRPr lang="en-US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Кнопка меняет состояние, музыка ставится на паузу/продолжается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3490543823"/>
                  </a:ext>
                </a:extLst>
              </a:tr>
              <a:tr h="542069"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4) Перемотка ±5 сек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100" b="0">
                          <a:effectLst/>
                        </a:rPr>
                        <a:t>Позиция изменяется в пределах длительности</a:t>
                      </a:r>
                      <a:endParaRPr lang="ru-RU" sz="1100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606402223"/>
                  </a:ext>
                </a:extLst>
              </a:tr>
              <a:tr h="542069"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5) </a:t>
                      </a:r>
                      <a:r>
                        <a:rPr lang="ru-RU" sz="1100" b="0" dirty="0" err="1">
                          <a:effectLst/>
                        </a:rPr>
                        <a:t>Автопереход</a:t>
                      </a:r>
                      <a:r>
                        <a:rPr lang="ru-RU" sz="1100" b="0" dirty="0">
                          <a:effectLst/>
                        </a:rPr>
                        <a:t> на следующий трек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По окончании трека загружается следующий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2788542548"/>
                  </a:ext>
                </a:extLst>
              </a:tr>
              <a:tr h="542069"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6) Масштабирование (+) / (–)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100" b="0">
                          <a:effectLst/>
                        </a:rPr>
                        <a:t>Размер окна и SVG изменяются, масштаб не меньше 1.0</a:t>
                      </a:r>
                      <a:endParaRPr lang="ru-RU" sz="1100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3472713631"/>
                  </a:ext>
                </a:extLst>
              </a:tr>
              <a:tr h="455643"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7) Воспроизведение форматов .</a:t>
                      </a:r>
                      <a:r>
                        <a:rPr lang="ru-RU" sz="1100" b="0" dirty="0" err="1">
                          <a:effectLst/>
                        </a:rPr>
                        <a:t>ogg</a:t>
                      </a:r>
                      <a:r>
                        <a:rPr lang="ru-RU" sz="1100" b="0" dirty="0">
                          <a:effectLst/>
                        </a:rPr>
                        <a:t>, .m4a, .</a:t>
                      </a:r>
                      <a:r>
                        <a:rPr lang="ru-RU" sz="1100" b="0" dirty="0" err="1">
                          <a:effectLst/>
                        </a:rPr>
                        <a:t>wav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Воспроизведение разных форматов 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952658882"/>
                  </a:ext>
                </a:extLst>
              </a:tr>
            </a:tbl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72BADA43-AD39-416F-A002-13E760002B95}"/>
              </a:ext>
            </a:extLst>
          </p:cNvPr>
          <p:cNvSpPr/>
          <p:nvPr/>
        </p:nvSpPr>
        <p:spPr>
          <a:xfrm>
            <a:off x="5386386" y="479944"/>
            <a:ext cx="6353176" cy="6089131"/>
          </a:xfrm>
          <a:prstGeom prst="rect">
            <a:avLst/>
          </a:prstGeom>
          <a:effectLst>
            <a:softEdge rad="317500"/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F86DE977-2BC3-430C-A8DA-D8104F4786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1492" y="1046956"/>
            <a:ext cx="5029902" cy="4486901"/>
          </a:xfrm>
          <a:prstGeom prst="rect">
            <a:avLst/>
          </a:prstGeom>
        </p:spPr>
      </p:pic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4363A792-7B3C-49C0-9E7A-A9D2263FB0D9}"/>
              </a:ext>
            </a:extLst>
          </p:cNvPr>
          <p:cNvSpPr/>
          <p:nvPr/>
        </p:nvSpPr>
        <p:spPr>
          <a:xfrm>
            <a:off x="5262562" y="416545"/>
            <a:ext cx="3738563" cy="894937"/>
          </a:xfrm>
          <a:prstGeom prst="roundRect">
            <a:avLst/>
          </a:prstGeom>
          <a:solidFill>
            <a:srgbClr val="5A99D3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Запуск приложения</a:t>
            </a:r>
          </a:p>
        </p:txBody>
      </p:sp>
    </p:spTree>
    <p:extLst>
      <p:ext uri="{BB962C8B-B14F-4D97-AF65-F5344CB8AC3E}">
        <p14:creationId xmlns:p14="http://schemas.microsoft.com/office/powerpoint/2010/main" val="41090139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78DD0C4-B8FB-4C0B-B2DE-4F670CFAEA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17EAAF8-C7E2-4D41-8630-ABCF8E88C75C}"/>
              </a:ext>
            </a:extLst>
          </p:cNvPr>
          <p:cNvSpPr/>
          <p:nvPr/>
        </p:nvSpPr>
        <p:spPr>
          <a:xfrm>
            <a:off x="5386386" y="479944"/>
            <a:ext cx="6353176" cy="6089131"/>
          </a:xfrm>
          <a:prstGeom prst="rect">
            <a:avLst/>
          </a:prstGeom>
          <a:effectLst>
            <a:softEdge rad="317500"/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EAAFFB45-9DCB-45F0-B11B-977F52162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575" y="288925"/>
            <a:ext cx="10515600" cy="1325563"/>
          </a:xfrm>
        </p:spPr>
        <p:txBody>
          <a:bodyPr/>
          <a:lstStyle/>
          <a:p>
            <a:r>
              <a:rPr lang="ru-RU" b="1" dirty="0">
                <a:latin typeface="Georgia" panose="02040502050405020303" pitchFamily="18" charset="0"/>
              </a:rPr>
              <a:t>Тестирование</a:t>
            </a:r>
          </a:p>
        </p:txBody>
      </p:sp>
      <p:graphicFrame>
        <p:nvGraphicFramePr>
          <p:cNvPr id="10" name="Таблица 7">
            <a:extLst>
              <a:ext uri="{FF2B5EF4-FFF2-40B4-BE49-F238E27FC236}">
                <a16:creationId xmlns:a16="http://schemas.microsoft.com/office/drawing/2014/main" id="{6720F587-85E4-4A11-8C0D-755F5443C8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6394642"/>
              </p:ext>
            </p:extLst>
          </p:nvPr>
        </p:nvGraphicFramePr>
        <p:xfrm>
          <a:off x="183356" y="1495424"/>
          <a:ext cx="4750594" cy="447161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375297">
                  <a:extLst>
                    <a:ext uri="{9D8B030D-6E8A-4147-A177-3AD203B41FA5}">
                      <a16:colId xmlns:a16="http://schemas.microsoft.com/office/drawing/2014/main" val="1410530299"/>
                    </a:ext>
                  </a:extLst>
                </a:gridCol>
                <a:gridCol w="2375297">
                  <a:extLst>
                    <a:ext uri="{9D8B030D-6E8A-4147-A177-3AD203B41FA5}">
                      <a16:colId xmlns:a16="http://schemas.microsoft.com/office/drawing/2014/main" val="1878603811"/>
                    </a:ext>
                  </a:extLst>
                </a:gridCol>
              </a:tblGrid>
              <a:tr h="411019">
                <a:tc>
                  <a:txBody>
                    <a:bodyPr/>
                    <a:lstStyle/>
                    <a:p>
                      <a:pPr algn="l"/>
                      <a:r>
                        <a:rPr lang="ru-RU" sz="1100" b="0" dirty="0">
                          <a:effectLst/>
                        </a:rPr>
                        <a:t>Тест-кейс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b="0" dirty="0">
                          <a:effectLst/>
                        </a:rPr>
                        <a:t>Проверка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724813541"/>
                  </a:ext>
                </a:extLst>
              </a:tr>
              <a:tr h="542069"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1) Запуск приложения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Окно отображается поверх всех окон, прозрачный фон – </a:t>
                      </a:r>
                      <a:r>
                        <a:rPr lang="ru-RU" sz="1100" b="1" dirty="0">
                          <a:effectLst/>
                        </a:rPr>
                        <a:t>Успешно</a:t>
                      </a:r>
                      <a:endParaRPr lang="ru-RU" sz="1100" b="1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878387836"/>
                  </a:ext>
                </a:extLst>
              </a:tr>
              <a:tr h="673118"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2) Выбор нескольких аудиофайлов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Плейлист заполнен, начинается воспроизведение первого трека - </a:t>
                      </a:r>
                      <a:r>
                        <a:rPr lang="ru-RU" sz="1100" b="1" dirty="0">
                          <a:effectLst/>
                        </a:rPr>
                        <a:t>Успешно</a:t>
                      </a:r>
                      <a:endParaRPr lang="ru-RU" sz="1100" b="1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56585593"/>
                  </a:ext>
                </a:extLst>
              </a:tr>
              <a:tr h="673118"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3) </a:t>
                      </a:r>
                      <a:r>
                        <a:rPr lang="en-US" sz="1100" b="0" dirty="0">
                          <a:effectLst/>
                        </a:rPr>
                        <a:t>Play/Pause</a:t>
                      </a:r>
                      <a:endParaRPr lang="en-US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Кнопка меняет состояние, музыка ставится на паузу/продолжается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3490543823"/>
                  </a:ext>
                </a:extLst>
              </a:tr>
              <a:tr h="542069"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4) Перемотка ±5 сек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100" b="0">
                          <a:effectLst/>
                        </a:rPr>
                        <a:t>Позиция изменяется в пределах длительности</a:t>
                      </a:r>
                      <a:endParaRPr lang="ru-RU" sz="1100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606402223"/>
                  </a:ext>
                </a:extLst>
              </a:tr>
              <a:tr h="542069"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5) </a:t>
                      </a:r>
                      <a:r>
                        <a:rPr lang="ru-RU" sz="1100" b="0" dirty="0" err="1">
                          <a:effectLst/>
                        </a:rPr>
                        <a:t>Автопереход</a:t>
                      </a:r>
                      <a:r>
                        <a:rPr lang="ru-RU" sz="1100" b="0" dirty="0">
                          <a:effectLst/>
                        </a:rPr>
                        <a:t> на следующий трек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По окончании трека загружается следующий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2788542548"/>
                  </a:ext>
                </a:extLst>
              </a:tr>
              <a:tr h="542069"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6) Масштабирование (+) / (–)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100" b="0">
                          <a:effectLst/>
                        </a:rPr>
                        <a:t>Размер окна и SVG изменяются, масштаб не меньше 1.0</a:t>
                      </a:r>
                      <a:endParaRPr lang="ru-RU" sz="1100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3472713631"/>
                  </a:ext>
                </a:extLst>
              </a:tr>
              <a:tr h="455643"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7) Воспроизведение форматов .</a:t>
                      </a:r>
                      <a:r>
                        <a:rPr lang="ru-RU" sz="1100" b="0" dirty="0" err="1">
                          <a:effectLst/>
                        </a:rPr>
                        <a:t>ogg</a:t>
                      </a:r>
                      <a:r>
                        <a:rPr lang="ru-RU" sz="1100" b="0" dirty="0">
                          <a:effectLst/>
                        </a:rPr>
                        <a:t>, .m4a, .</a:t>
                      </a:r>
                      <a:r>
                        <a:rPr lang="ru-RU" sz="1100" b="0" dirty="0" err="1">
                          <a:effectLst/>
                        </a:rPr>
                        <a:t>wav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Воспроизведение разных форматов 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952658882"/>
                  </a:ext>
                </a:extLst>
              </a:tr>
            </a:tbl>
          </a:graphicData>
        </a:graphic>
      </p:graphicFrame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3AAF3689-5F30-4468-948E-D658F6B5C2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2759" y="1495424"/>
            <a:ext cx="5220429" cy="4210638"/>
          </a:xfrm>
          <a:prstGeom prst="rect">
            <a:avLst/>
          </a:prstGeom>
        </p:spPr>
      </p:pic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6C49BF9F-0A0E-4B84-9828-EC234A8D6290}"/>
              </a:ext>
            </a:extLst>
          </p:cNvPr>
          <p:cNvSpPr/>
          <p:nvPr/>
        </p:nvSpPr>
        <p:spPr>
          <a:xfrm>
            <a:off x="5262562" y="416545"/>
            <a:ext cx="3738563" cy="894937"/>
          </a:xfrm>
          <a:prstGeom prst="roundRect">
            <a:avLst/>
          </a:prstGeom>
          <a:solidFill>
            <a:srgbClr val="5A99D3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800" b="0" dirty="0">
                <a:effectLst/>
              </a:rPr>
              <a:t>Выбор нескольких аудиофайлов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703277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78DD0C4-B8FB-4C0B-B2DE-4F670CFAEA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17EAAF8-C7E2-4D41-8630-ABCF8E88C75C}"/>
              </a:ext>
            </a:extLst>
          </p:cNvPr>
          <p:cNvSpPr/>
          <p:nvPr/>
        </p:nvSpPr>
        <p:spPr>
          <a:xfrm>
            <a:off x="5386386" y="479944"/>
            <a:ext cx="6353176" cy="6089131"/>
          </a:xfrm>
          <a:prstGeom prst="rect">
            <a:avLst/>
          </a:prstGeom>
          <a:effectLst>
            <a:softEdge rad="317500"/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EAAFFB45-9DCB-45F0-B11B-977F52162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575" y="288925"/>
            <a:ext cx="10515600" cy="1325563"/>
          </a:xfrm>
        </p:spPr>
        <p:txBody>
          <a:bodyPr/>
          <a:lstStyle/>
          <a:p>
            <a:r>
              <a:rPr lang="ru-RU" b="1" dirty="0">
                <a:latin typeface="Georgia" panose="02040502050405020303" pitchFamily="18" charset="0"/>
              </a:rPr>
              <a:t>Тестирование</a:t>
            </a:r>
          </a:p>
        </p:txBody>
      </p:sp>
      <p:graphicFrame>
        <p:nvGraphicFramePr>
          <p:cNvPr id="10" name="Таблица 7">
            <a:extLst>
              <a:ext uri="{FF2B5EF4-FFF2-40B4-BE49-F238E27FC236}">
                <a16:creationId xmlns:a16="http://schemas.microsoft.com/office/drawing/2014/main" id="{6720F587-85E4-4A11-8C0D-755F5443C8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1086387"/>
              </p:ext>
            </p:extLst>
          </p:nvPr>
        </p:nvGraphicFramePr>
        <p:xfrm>
          <a:off x="183356" y="1495424"/>
          <a:ext cx="4750594" cy="449191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375297">
                  <a:extLst>
                    <a:ext uri="{9D8B030D-6E8A-4147-A177-3AD203B41FA5}">
                      <a16:colId xmlns:a16="http://schemas.microsoft.com/office/drawing/2014/main" val="1410530299"/>
                    </a:ext>
                  </a:extLst>
                </a:gridCol>
                <a:gridCol w="2375297">
                  <a:extLst>
                    <a:ext uri="{9D8B030D-6E8A-4147-A177-3AD203B41FA5}">
                      <a16:colId xmlns:a16="http://schemas.microsoft.com/office/drawing/2014/main" val="1878603811"/>
                    </a:ext>
                  </a:extLst>
                </a:gridCol>
              </a:tblGrid>
              <a:tr h="411019">
                <a:tc>
                  <a:txBody>
                    <a:bodyPr/>
                    <a:lstStyle/>
                    <a:p>
                      <a:pPr algn="l"/>
                      <a:r>
                        <a:rPr lang="ru-RU" sz="1100" b="0" dirty="0">
                          <a:effectLst/>
                        </a:rPr>
                        <a:t>Тест-кейс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b="0" dirty="0">
                          <a:effectLst/>
                        </a:rPr>
                        <a:t>Проверка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724813541"/>
                  </a:ext>
                </a:extLst>
              </a:tr>
              <a:tr h="542069"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1) Запуск приложения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Окно отображается поверх всех окон, прозрачный фон – </a:t>
                      </a:r>
                      <a:r>
                        <a:rPr lang="ru-RU" sz="1100" b="1" dirty="0">
                          <a:effectLst/>
                        </a:rPr>
                        <a:t>Успешно</a:t>
                      </a:r>
                      <a:endParaRPr lang="ru-RU" sz="1100" b="1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878387836"/>
                  </a:ext>
                </a:extLst>
              </a:tr>
              <a:tr h="673118"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2) Выбор нескольких аудиофайлов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Плейлист заполнен, начинается воспроизведение первого трека - </a:t>
                      </a:r>
                      <a:r>
                        <a:rPr lang="ru-RU" sz="1100" b="1" dirty="0">
                          <a:effectLst/>
                        </a:rPr>
                        <a:t>Успешно</a:t>
                      </a:r>
                      <a:endParaRPr lang="ru-RU" sz="1100" b="1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56585593"/>
                  </a:ext>
                </a:extLst>
              </a:tr>
              <a:tr h="673118"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3) </a:t>
                      </a:r>
                      <a:r>
                        <a:rPr lang="en-US" sz="1100" b="0" dirty="0">
                          <a:effectLst/>
                        </a:rPr>
                        <a:t>Play/Pause</a:t>
                      </a:r>
                      <a:endParaRPr lang="en-US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Кнопка меняет состояние, музыка ставится на паузу/продолжается - </a:t>
                      </a:r>
                      <a:r>
                        <a:rPr lang="ru-RU" sz="1100" b="1" dirty="0">
                          <a:effectLst/>
                        </a:rPr>
                        <a:t>Успешно</a:t>
                      </a:r>
                      <a:endParaRPr lang="ru-RU" sz="1100" b="1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3490543823"/>
                  </a:ext>
                </a:extLst>
              </a:tr>
              <a:tr h="542069"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4) Перемотка ±5 сек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100" b="0">
                          <a:effectLst/>
                        </a:rPr>
                        <a:t>Позиция изменяется в пределах длительности</a:t>
                      </a:r>
                      <a:endParaRPr lang="ru-RU" sz="1100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606402223"/>
                  </a:ext>
                </a:extLst>
              </a:tr>
              <a:tr h="542069"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5) </a:t>
                      </a:r>
                      <a:r>
                        <a:rPr lang="ru-RU" sz="1100" b="0" dirty="0" err="1">
                          <a:effectLst/>
                        </a:rPr>
                        <a:t>Автопереход</a:t>
                      </a:r>
                      <a:r>
                        <a:rPr lang="ru-RU" sz="1100" b="0" dirty="0">
                          <a:effectLst/>
                        </a:rPr>
                        <a:t> на следующий трек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По окончании трека загружается следующий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2788542548"/>
                  </a:ext>
                </a:extLst>
              </a:tr>
              <a:tr h="542069"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6) Масштабирование (+) / (–)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100" b="0">
                          <a:effectLst/>
                        </a:rPr>
                        <a:t>Размер окна и SVG изменяются, масштаб не меньше 1.0</a:t>
                      </a:r>
                      <a:endParaRPr lang="ru-RU" sz="1100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3472713631"/>
                  </a:ext>
                </a:extLst>
              </a:tr>
              <a:tr h="455643"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7) Воспроизведение форматов .</a:t>
                      </a:r>
                      <a:r>
                        <a:rPr lang="ru-RU" sz="1100" b="0" dirty="0" err="1">
                          <a:effectLst/>
                        </a:rPr>
                        <a:t>ogg</a:t>
                      </a:r>
                      <a:r>
                        <a:rPr lang="ru-RU" sz="1100" b="0" dirty="0">
                          <a:effectLst/>
                        </a:rPr>
                        <a:t>, .m4a, .</a:t>
                      </a:r>
                      <a:r>
                        <a:rPr lang="ru-RU" sz="1100" b="0" dirty="0" err="1">
                          <a:effectLst/>
                        </a:rPr>
                        <a:t>wav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Воспроизведение разных форматов 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952658882"/>
                  </a:ext>
                </a:extLst>
              </a:tr>
            </a:tbl>
          </a:graphicData>
        </a:graphic>
      </p:graphicFrame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6C45D30-FC26-43CE-BFDE-3D34634847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8496" y="1614488"/>
            <a:ext cx="5048955" cy="4029637"/>
          </a:xfrm>
          <a:prstGeom prst="rect">
            <a:avLst/>
          </a:prstGeom>
        </p:spPr>
      </p:pic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C077DD11-2841-4501-B73C-A013A5487FCA}"/>
              </a:ext>
            </a:extLst>
          </p:cNvPr>
          <p:cNvSpPr/>
          <p:nvPr/>
        </p:nvSpPr>
        <p:spPr>
          <a:xfrm>
            <a:off x="5262562" y="416545"/>
            <a:ext cx="3738563" cy="894937"/>
          </a:xfrm>
          <a:prstGeom prst="roundRect">
            <a:avLst/>
          </a:prstGeom>
          <a:solidFill>
            <a:srgbClr val="5A99D3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0" dirty="0">
                <a:effectLst/>
              </a:rPr>
              <a:t>Play/Pause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573365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78DD0C4-B8FB-4C0B-B2DE-4F670CFAEA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792" y="0"/>
            <a:ext cx="12192000" cy="6858000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17EAAF8-C7E2-4D41-8630-ABCF8E88C75C}"/>
              </a:ext>
            </a:extLst>
          </p:cNvPr>
          <p:cNvSpPr/>
          <p:nvPr/>
        </p:nvSpPr>
        <p:spPr>
          <a:xfrm>
            <a:off x="5386386" y="479944"/>
            <a:ext cx="6353176" cy="6089131"/>
          </a:xfrm>
          <a:prstGeom prst="rect">
            <a:avLst/>
          </a:prstGeom>
          <a:effectLst>
            <a:softEdge rad="317500"/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EAAFFB45-9DCB-45F0-B11B-977F52162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575" y="288925"/>
            <a:ext cx="10515600" cy="1325563"/>
          </a:xfrm>
        </p:spPr>
        <p:txBody>
          <a:bodyPr/>
          <a:lstStyle/>
          <a:p>
            <a:r>
              <a:rPr lang="ru-RU" b="1" dirty="0">
                <a:latin typeface="Georgia" panose="02040502050405020303" pitchFamily="18" charset="0"/>
              </a:rPr>
              <a:t>Тестирование</a:t>
            </a:r>
          </a:p>
        </p:txBody>
      </p:sp>
      <p:graphicFrame>
        <p:nvGraphicFramePr>
          <p:cNvPr id="10" name="Таблица 7">
            <a:extLst>
              <a:ext uri="{FF2B5EF4-FFF2-40B4-BE49-F238E27FC236}">
                <a16:creationId xmlns:a16="http://schemas.microsoft.com/office/drawing/2014/main" id="{6720F587-85E4-4A11-8C0D-755F5443C8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8975854"/>
              </p:ext>
            </p:extLst>
          </p:nvPr>
        </p:nvGraphicFramePr>
        <p:xfrm>
          <a:off x="183356" y="1495424"/>
          <a:ext cx="4750594" cy="449191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375297">
                  <a:extLst>
                    <a:ext uri="{9D8B030D-6E8A-4147-A177-3AD203B41FA5}">
                      <a16:colId xmlns:a16="http://schemas.microsoft.com/office/drawing/2014/main" val="1410530299"/>
                    </a:ext>
                  </a:extLst>
                </a:gridCol>
                <a:gridCol w="2375297">
                  <a:extLst>
                    <a:ext uri="{9D8B030D-6E8A-4147-A177-3AD203B41FA5}">
                      <a16:colId xmlns:a16="http://schemas.microsoft.com/office/drawing/2014/main" val="1878603811"/>
                    </a:ext>
                  </a:extLst>
                </a:gridCol>
              </a:tblGrid>
              <a:tr h="411019">
                <a:tc>
                  <a:txBody>
                    <a:bodyPr/>
                    <a:lstStyle/>
                    <a:p>
                      <a:pPr algn="l"/>
                      <a:r>
                        <a:rPr lang="ru-RU" sz="1100" b="0" dirty="0">
                          <a:effectLst/>
                        </a:rPr>
                        <a:t>Тест-кейс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b="0" dirty="0">
                          <a:effectLst/>
                        </a:rPr>
                        <a:t>Проверка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724813541"/>
                  </a:ext>
                </a:extLst>
              </a:tr>
              <a:tr h="542069"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1) Запуск приложения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Окно отображается поверх всех окон, прозрачный фон – </a:t>
                      </a:r>
                      <a:r>
                        <a:rPr lang="ru-RU" sz="1100" b="1" dirty="0">
                          <a:effectLst/>
                        </a:rPr>
                        <a:t>Успешно</a:t>
                      </a:r>
                      <a:endParaRPr lang="ru-RU" sz="1100" b="1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878387836"/>
                  </a:ext>
                </a:extLst>
              </a:tr>
              <a:tr h="673118"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2) Выбор нескольких аудиофайлов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Плейлист заполнен, начинается воспроизведение первого трека - </a:t>
                      </a:r>
                      <a:r>
                        <a:rPr lang="ru-RU" sz="1100" b="1" dirty="0">
                          <a:effectLst/>
                        </a:rPr>
                        <a:t>Успешно</a:t>
                      </a:r>
                      <a:endParaRPr lang="ru-RU" sz="1100" b="1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56585593"/>
                  </a:ext>
                </a:extLst>
              </a:tr>
              <a:tr h="673118"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3) </a:t>
                      </a:r>
                      <a:r>
                        <a:rPr lang="en-US" sz="1100" b="0" dirty="0">
                          <a:effectLst/>
                        </a:rPr>
                        <a:t>Play/Pause</a:t>
                      </a:r>
                      <a:endParaRPr lang="en-US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Кнопка меняет состояние, музыка ставится на паузу/продолжается - </a:t>
                      </a:r>
                      <a:r>
                        <a:rPr lang="ru-RU" sz="1100" b="1" dirty="0">
                          <a:effectLst/>
                        </a:rPr>
                        <a:t>Успешно</a:t>
                      </a:r>
                      <a:endParaRPr lang="ru-RU" sz="1100" b="1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3490543823"/>
                  </a:ext>
                </a:extLst>
              </a:tr>
              <a:tr h="542069"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4) Перемотка ±5 сек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Позиция изменяется в пределах длительности - </a:t>
                      </a:r>
                      <a:r>
                        <a:rPr lang="ru-RU" sz="1100" b="1" dirty="0">
                          <a:effectLst/>
                        </a:rPr>
                        <a:t>Успешно</a:t>
                      </a:r>
                      <a:endParaRPr lang="ru-RU" sz="1100" b="1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606402223"/>
                  </a:ext>
                </a:extLst>
              </a:tr>
              <a:tr h="542069"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5) </a:t>
                      </a:r>
                      <a:r>
                        <a:rPr lang="ru-RU" sz="1100" b="0" dirty="0" err="1">
                          <a:effectLst/>
                        </a:rPr>
                        <a:t>Автопереход</a:t>
                      </a:r>
                      <a:r>
                        <a:rPr lang="ru-RU" sz="1100" b="0" dirty="0">
                          <a:effectLst/>
                        </a:rPr>
                        <a:t> на следующий трек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По окончании трека загружается следующий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2788542548"/>
                  </a:ext>
                </a:extLst>
              </a:tr>
              <a:tr h="542069"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6) Масштабирование (+) / (–)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100" b="0">
                          <a:effectLst/>
                        </a:rPr>
                        <a:t>Размер окна и SVG изменяются, масштаб не меньше 1.0</a:t>
                      </a:r>
                      <a:endParaRPr lang="ru-RU" sz="1100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3472713631"/>
                  </a:ext>
                </a:extLst>
              </a:tr>
              <a:tr h="455643"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7) Воспроизведение форматов .</a:t>
                      </a:r>
                      <a:r>
                        <a:rPr lang="ru-RU" sz="1100" b="0" dirty="0" err="1">
                          <a:effectLst/>
                        </a:rPr>
                        <a:t>ogg</a:t>
                      </a:r>
                      <a:r>
                        <a:rPr lang="ru-RU" sz="1100" b="0" dirty="0">
                          <a:effectLst/>
                        </a:rPr>
                        <a:t>, .m4a, .</a:t>
                      </a:r>
                      <a:r>
                        <a:rPr lang="ru-RU" sz="1100" b="0" dirty="0" err="1">
                          <a:effectLst/>
                        </a:rPr>
                        <a:t>wav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Воспроизведение разных форматов 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952658882"/>
                  </a:ext>
                </a:extLst>
              </a:tr>
            </a:tbl>
          </a:graphicData>
        </a:graphic>
      </p:graphicFrame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8E83239-26CE-479B-9178-0DA585B464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7523" y="1433479"/>
            <a:ext cx="5210902" cy="4182059"/>
          </a:xfrm>
          <a:prstGeom prst="rect">
            <a:avLst/>
          </a:prstGeom>
        </p:spPr>
      </p:pic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701B0708-8CB9-4DC1-A0B6-2DCBDE0A59C9}"/>
              </a:ext>
            </a:extLst>
          </p:cNvPr>
          <p:cNvSpPr/>
          <p:nvPr/>
        </p:nvSpPr>
        <p:spPr>
          <a:xfrm>
            <a:off x="5262562" y="416545"/>
            <a:ext cx="3738563" cy="894937"/>
          </a:xfrm>
          <a:prstGeom prst="roundRect">
            <a:avLst/>
          </a:prstGeom>
          <a:solidFill>
            <a:srgbClr val="5A99D3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800" b="0" dirty="0">
                <a:effectLst/>
              </a:rPr>
              <a:t>Перемотка +-5 сек</a:t>
            </a:r>
            <a:endParaRPr lang="ru-RU" sz="1800" b="0" dirty="0"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20806120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78DD0C4-B8FB-4C0B-B2DE-4F670CFAEA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17EAAF8-C7E2-4D41-8630-ABCF8E88C75C}"/>
              </a:ext>
            </a:extLst>
          </p:cNvPr>
          <p:cNvSpPr/>
          <p:nvPr/>
        </p:nvSpPr>
        <p:spPr>
          <a:xfrm>
            <a:off x="5386386" y="479944"/>
            <a:ext cx="6353176" cy="6089131"/>
          </a:xfrm>
          <a:prstGeom prst="rect">
            <a:avLst/>
          </a:prstGeom>
          <a:effectLst>
            <a:softEdge rad="317500"/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EAAFFB45-9DCB-45F0-B11B-977F52162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575" y="288925"/>
            <a:ext cx="10515600" cy="1325563"/>
          </a:xfrm>
        </p:spPr>
        <p:txBody>
          <a:bodyPr/>
          <a:lstStyle/>
          <a:p>
            <a:r>
              <a:rPr lang="ru-RU" b="1" dirty="0">
                <a:latin typeface="Georgia" panose="02040502050405020303" pitchFamily="18" charset="0"/>
              </a:rPr>
              <a:t>Тестирование</a:t>
            </a:r>
          </a:p>
        </p:txBody>
      </p:sp>
      <p:graphicFrame>
        <p:nvGraphicFramePr>
          <p:cNvPr id="10" name="Таблица 7">
            <a:extLst>
              <a:ext uri="{FF2B5EF4-FFF2-40B4-BE49-F238E27FC236}">
                <a16:creationId xmlns:a16="http://schemas.microsoft.com/office/drawing/2014/main" id="{6720F587-85E4-4A11-8C0D-755F5443C8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1823893"/>
              </p:ext>
            </p:extLst>
          </p:nvPr>
        </p:nvGraphicFramePr>
        <p:xfrm>
          <a:off x="183356" y="1495424"/>
          <a:ext cx="4750594" cy="449191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375297">
                  <a:extLst>
                    <a:ext uri="{9D8B030D-6E8A-4147-A177-3AD203B41FA5}">
                      <a16:colId xmlns:a16="http://schemas.microsoft.com/office/drawing/2014/main" val="1410530299"/>
                    </a:ext>
                  </a:extLst>
                </a:gridCol>
                <a:gridCol w="2375297">
                  <a:extLst>
                    <a:ext uri="{9D8B030D-6E8A-4147-A177-3AD203B41FA5}">
                      <a16:colId xmlns:a16="http://schemas.microsoft.com/office/drawing/2014/main" val="1878603811"/>
                    </a:ext>
                  </a:extLst>
                </a:gridCol>
              </a:tblGrid>
              <a:tr h="411019">
                <a:tc>
                  <a:txBody>
                    <a:bodyPr/>
                    <a:lstStyle/>
                    <a:p>
                      <a:pPr algn="l"/>
                      <a:r>
                        <a:rPr lang="ru-RU" sz="1100" b="0" dirty="0">
                          <a:effectLst/>
                        </a:rPr>
                        <a:t>Тест-кейс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b="0" dirty="0">
                          <a:effectLst/>
                        </a:rPr>
                        <a:t>Проверка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724813541"/>
                  </a:ext>
                </a:extLst>
              </a:tr>
              <a:tr h="542069"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1) Запуск приложения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Окно отображается поверх всех окон, прозрачный фон – </a:t>
                      </a:r>
                      <a:r>
                        <a:rPr lang="ru-RU" sz="1100" b="1" dirty="0">
                          <a:effectLst/>
                        </a:rPr>
                        <a:t>Успешно</a:t>
                      </a:r>
                      <a:endParaRPr lang="ru-RU" sz="1100" b="1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878387836"/>
                  </a:ext>
                </a:extLst>
              </a:tr>
              <a:tr h="673118"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2) Выбор нескольких аудиофайлов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Плейлист заполнен, начинается воспроизведение первого трека - </a:t>
                      </a:r>
                      <a:r>
                        <a:rPr lang="ru-RU" sz="1100" b="1" dirty="0">
                          <a:effectLst/>
                        </a:rPr>
                        <a:t>Успешно</a:t>
                      </a:r>
                      <a:endParaRPr lang="ru-RU" sz="1100" b="1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56585593"/>
                  </a:ext>
                </a:extLst>
              </a:tr>
              <a:tr h="673118"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3) </a:t>
                      </a:r>
                      <a:r>
                        <a:rPr lang="en-US" sz="1100" b="0" dirty="0">
                          <a:effectLst/>
                        </a:rPr>
                        <a:t>Play/Pause</a:t>
                      </a:r>
                      <a:endParaRPr lang="en-US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Кнопка меняет состояние, музыка ставится на паузу/продолжается - </a:t>
                      </a:r>
                      <a:r>
                        <a:rPr lang="ru-RU" sz="1100" b="1" dirty="0">
                          <a:effectLst/>
                        </a:rPr>
                        <a:t>Успешно</a:t>
                      </a:r>
                      <a:endParaRPr lang="ru-RU" sz="1100" b="1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3490543823"/>
                  </a:ext>
                </a:extLst>
              </a:tr>
              <a:tr h="542069"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4) Перемотка ±5 сек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Позиция изменяется в пределах длительности - </a:t>
                      </a:r>
                      <a:r>
                        <a:rPr lang="ru-RU" sz="1100" b="1" dirty="0">
                          <a:effectLst/>
                        </a:rPr>
                        <a:t>Успешно</a:t>
                      </a:r>
                      <a:endParaRPr lang="ru-RU" sz="1100" b="1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606402223"/>
                  </a:ext>
                </a:extLst>
              </a:tr>
              <a:tr h="542069"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5) </a:t>
                      </a:r>
                      <a:r>
                        <a:rPr lang="ru-RU" sz="1100" b="0" dirty="0" err="1">
                          <a:effectLst/>
                        </a:rPr>
                        <a:t>Автопереход</a:t>
                      </a:r>
                      <a:r>
                        <a:rPr lang="ru-RU" sz="1100" b="0" dirty="0">
                          <a:effectLst/>
                        </a:rPr>
                        <a:t> на следующий трек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По окончании трека загружается следующий</a:t>
                      </a:r>
                      <a:r>
                        <a:rPr lang="en-US" sz="1100" b="0" dirty="0">
                          <a:effectLst/>
                        </a:rPr>
                        <a:t> -</a:t>
                      </a:r>
                      <a:r>
                        <a:rPr lang="ru-RU" sz="1100" b="0" dirty="0">
                          <a:effectLst/>
                        </a:rPr>
                        <a:t> </a:t>
                      </a:r>
                      <a:r>
                        <a:rPr lang="ru-RU" sz="1100" b="1" dirty="0">
                          <a:effectLst/>
                        </a:rPr>
                        <a:t>Успешно</a:t>
                      </a:r>
                      <a:endParaRPr lang="ru-RU" sz="1100" b="1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2788542548"/>
                  </a:ext>
                </a:extLst>
              </a:tr>
              <a:tr h="542069"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6) Масштабирование (+) / (–)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100" b="0">
                          <a:effectLst/>
                        </a:rPr>
                        <a:t>Размер окна и SVG изменяются, масштаб не меньше 1.0</a:t>
                      </a:r>
                      <a:endParaRPr lang="ru-RU" sz="1100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3472713631"/>
                  </a:ext>
                </a:extLst>
              </a:tr>
              <a:tr h="455643"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7) Воспроизведение форматов .</a:t>
                      </a:r>
                      <a:r>
                        <a:rPr lang="ru-RU" sz="1100" b="0" dirty="0" err="1">
                          <a:effectLst/>
                        </a:rPr>
                        <a:t>ogg</a:t>
                      </a:r>
                      <a:r>
                        <a:rPr lang="ru-RU" sz="1100" b="0" dirty="0">
                          <a:effectLst/>
                        </a:rPr>
                        <a:t>, .m4a, .</a:t>
                      </a:r>
                      <a:r>
                        <a:rPr lang="ru-RU" sz="1100" b="0" dirty="0" err="1">
                          <a:effectLst/>
                        </a:rPr>
                        <a:t>wav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Воспроизведение разных форматов 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952658882"/>
                  </a:ext>
                </a:extLst>
              </a:tr>
            </a:tbl>
          </a:graphicData>
        </a:graphic>
      </p:graphicFrame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D4D45C7-40A7-4166-A9F7-0CBA38BE39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614488"/>
            <a:ext cx="5058481" cy="3982006"/>
          </a:xfrm>
          <a:prstGeom prst="rect">
            <a:avLst/>
          </a:prstGeom>
        </p:spPr>
      </p:pic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21D1FD04-966C-4DB5-BAFB-920B4D77C594}"/>
              </a:ext>
            </a:extLst>
          </p:cNvPr>
          <p:cNvSpPr/>
          <p:nvPr/>
        </p:nvSpPr>
        <p:spPr>
          <a:xfrm>
            <a:off x="5262562" y="416545"/>
            <a:ext cx="3738563" cy="894937"/>
          </a:xfrm>
          <a:prstGeom prst="roundRect">
            <a:avLst/>
          </a:prstGeom>
          <a:solidFill>
            <a:srgbClr val="5A99D3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800" b="0" dirty="0" err="1">
                <a:effectLst/>
              </a:rPr>
              <a:t>Автопереход</a:t>
            </a:r>
            <a:r>
              <a:rPr lang="ru-RU" sz="1800" b="0" dirty="0">
                <a:effectLst/>
              </a:rPr>
              <a:t> на следующий трек</a:t>
            </a:r>
            <a:endParaRPr lang="ru-RU" sz="1800" b="0" dirty="0"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8055503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78DD0C4-B8FB-4C0B-B2DE-4F670CFAEA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792" y="0"/>
            <a:ext cx="12192000" cy="6858000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17EAAF8-C7E2-4D41-8630-ABCF8E88C75C}"/>
              </a:ext>
            </a:extLst>
          </p:cNvPr>
          <p:cNvSpPr/>
          <p:nvPr/>
        </p:nvSpPr>
        <p:spPr>
          <a:xfrm>
            <a:off x="5386386" y="479944"/>
            <a:ext cx="6353176" cy="6089131"/>
          </a:xfrm>
          <a:prstGeom prst="rect">
            <a:avLst/>
          </a:prstGeom>
          <a:effectLst>
            <a:softEdge rad="317500"/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EAAFFB45-9DCB-45F0-B11B-977F52162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575" y="288925"/>
            <a:ext cx="10515600" cy="1325563"/>
          </a:xfrm>
        </p:spPr>
        <p:txBody>
          <a:bodyPr/>
          <a:lstStyle/>
          <a:p>
            <a:r>
              <a:rPr lang="ru-RU" b="1" dirty="0">
                <a:latin typeface="Georgia" panose="02040502050405020303" pitchFamily="18" charset="0"/>
              </a:rPr>
              <a:t>Тестирование</a:t>
            </a:r>
          </a:p>
        </p:txBody>
      </p:sp>
      <p:graphicFrame>
        <p:nvGraphicFramePr>
          <p:cNvPr id="10" name="Таблица 7">
            <a:extLst>
              <a:ext uri="{FF2B5EF4-FFF2-40B4-BE49-F238E27FC236}">
                <a16:creationId xmlns:a16="http://schemas.microsoft.com/office/drawing/2014/main" id="{6720F587-85E4-4A11-8C0D-755F5443C8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6208833"/>
              </p:ext>
            </p:extLst>
          </p:nvPr>
        </p:nvGraphicFramePr>
        <p:xfrm>
          <a:off x="183356" y="1495424"/>
          <a:ext cx="4750594" cy="449191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375297">
                  <a:extLst>
                    <a:ext uri="{9D8B030D-6E8A-4147-A177-3AD203B41FA5}">
                      <a16:colId xmlns:a16="http://schemas.microsoft.com/office/drawing/2014/main" val="1410530299"/>
                    </a:ext>
                  </a:extLst>
                </a:gridCol>
                <a:gridCol w="2375297">
                  <a:extLst>
                    <a:ext uri="{9D8B030D-6E8A-4147-A177-3AD203B41FA5}">
                      <a16:colId xmlns:a16="http://schemas.microsoft.com/office/drawing/2014/main" val="1878603811"/>
                    </a:ext>
                  </a:extLst>
                </a:gridCol>
              </a:tblGrid>
              <a:tr h="411019">
                <a:tc>
                  <a:txBody>
                    <a:bodyPr/>
                    <a:lstStyle/>
                    <a:p>
                      <a:pPr algn="l"/>
                      <a:r>
                        <a:rPr lang="ru-RU" sz="1100" b="0" dirty="0">
                          <a:effectLst/>
                        </a:rPr>
                        <a:t>Тест-кейс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b="0" dirty="0">
                          <a:effectLst/>
                        </a:rPr>
                        <a:t>Проверка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724813541"/>
                  </a:ext>
                </a:extLst>
              </a:tr>
              <a:tr h="542069"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1) Запуск приложения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Окно отображается поверх всех окон, прозрачный фон – </a:t>
                      </a:r>
                      <a:r>
                        <a:rPr lang="ru-RU" sz="1100" b="1" dirty="0">
                          <a:effectLst/>
                        </a:rPr>
                        <a:t>Успешно</a:t>
                      </a:r>
                      <a:endParaRPr lang="ru-RU" sz="1100" b="1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878387836"/>
                  </a:ext>
                </a:extLst>
              </a:tr>
              <a:tr h="673118"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2) Выбор нескольких аудиофайлов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Плейлист заполнен, начинается воспроизведение первого трека – </a:t>
                      </a:r>
                      <a:r>
                        <a:rPr lang="ru-RU" sz="1100" b="1" dirty="0">
                          <a:effectLst/>
                        </a:rPr>
                        <a:t>Успешно</a:t>
                      </a:r>
                      <a:endParaRPr lang="ru-RU" sz="1100" b="1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56585593"/>
                  </a:ext>
                </a:extLst>
              </a:tr>
              <a:tr h="673118"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3) </a:t>
                      </a:r>
                      <a:r>
                        <a:rPr lang="en-US" sz="1100" b="0" dirty="0">
                          <a:effectLst/>
                        </a:rPr>
                        <a:t>Play/Pause</a:t>
                      </a:r>
                      <a:endParaRPr lang="en-US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Кнопка меняет состояние, музыка ставится на паузу/продолжается - </a:t>
                      </a:r>
                      <a:r>
                        <a:rPr lang="ru-RU" sz="1100" b="1" dirty="0">
                          <a:effectLst/>
                        </a:rPr>
                        <a:t>Успешно</a:t>
                      </a:r>
                      <a:endParaRPr lang="ru-RU" sz="1100" b="1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3490543823"/>
                  </a:ext>
                </a:extLst>
              </a:tr>
              <a:tr h="542069"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4) Перемотка ±5 сек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Позиция изменяется в пределах длительности - </a:t>
                      </a:r>
                      <a:r>
                        <a:rPr lang="ru-RU" sz="1100" b="1" dirty="0">
                          <a:effectLst/>
                        </a:rPr>
                        <a:t>Успешно</a:t>
                      </a:r>
                      <a:endParaRPr lang="ru-RU" sz="1100" b="1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606402223"/>
                  </a:ext>
                </a:extLst>
              </a:tr>
              <a:tr h="542069"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5) </a:t>
                      </a:r>
                      <a:r>
                        <a:rPr lang="ru-RU" sz="1100" b="0" dirty="0" err="1">
                          <a:effectLst/>
                        </a:rPr>
                        <a:t>Автопереход</a:t>
                      </a:r>
                      <a:r>
                        <a:rPr lang="ru-RU" sz="1100" b="0" dirty="0">
                          <a:effectLst/>
                        </a:rPr>
                        <a:t> на следующий трек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По окончании трека загружается следующий - </a:t>
                      </a:r>
                      <a:r>
                        <a:rPr lang="ru-RU" sz="1100" b="1" dirty="0">
                          <a:effectLst/>
                        </a:rPr>
                        <a:t>Успешно</a:t>
                      </a:r>
                      <a:endParaRPr lang="ru-RU" sz="1100" b="1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2788542548"/>
                  </a:ext>
                </a:extLst>
              </a:tr>
              <a:tr h="542069"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6) Масштабирование (+) / (–)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100" b="0">
                          <a:effectLst/>
                        </a:rPr>
                        <a:t>Размер окна и SVG изменяются, масштаб не меньше 1.0</a:t>
                      </a:r>
                      <a:endParaRPr lang="ru-RU" sz="1100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3472713631"/>
                  </a:ext>
                </a:extLst>
              </a:tr>
              <a:tr h="455643"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7) Воспроизведение форматов .</a:t>
                      </a:r>
                      <a:r>
                        <a:rPr lang="ru-RU" sz="1100" b="0" dirty="0" err="1">
                          <a:effectLst/>
                        </a:rPr>
                        <a:t>ogg</a:t>
                      </a:r>
                      <a:r>
                        <a:rPr lang="ru-RU" sz="1100" b="0" dirty="0">
                          <a:effectLst/>
                        </a:rPr>
                        <a:t>, .m4a, .</a:t>
                      </a:r>
                      <a:r>
                        <a:rPr lang="ru-RU" sz="1100" b="0" dirty="0" err="1">
                          <a:effectLst/>
                        </a:rPr>
                        <a:t>wav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Воспроизведение разных форматов 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952658882"/>
                  </a:ext>
                </a:extLst>
              </a:tr>
            </a:tbl>
          </a:graphicData>
        </a:graphic>
      </p:graphicFrame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D4D45C7-40A7-4166-A9F7-0CBA38BE39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614488"/>
            <a:ext cx="5058481" cy="3982006"/>
          </a:xfrm>
          <a:prstGeom prst="rect">
            <a:avLst/>
          </a:prstGeom>
        </p:spPr>
      </p:pic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21D1FD04-966C-4DB5-BAFB-920B4D77C594}"/>
              </a:ext>
            </a:extLst>
          </p:cNvPr>
          <p:cNvSpPr/>
          <p:nvPr/>
        </p:nvSpPr>
        <p:spPr>
          <a:xfrm>
            <a:off x="5262562" y="416545"/>
            <a:ext cx="3738563" cy="894937"/>
          </a:xfrm>
          <a:prstGeom prst="roundRect">
            <a:avLst/>
          </a:prstGeom>
          <a:solidFill>
            <a:srgbClr val="5A99D3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800" b="0" dirty="0" err="1">
                <a:effectLst/>
              </a:rPr>
              <a:t>Автопереход</a:t>
            </a:r>
            <a:r>
              <a:rPr lang="ru-RU" sz="1800" b="0" dirty="0">
                <a:effectLst/>
              </a:rPr>
              <a:t> на следующий трек</a:t>
            </a:r>
            <a:endParaRPr lang="ru-RU" sz="1800" b="0" dirty="0"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10722568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78DD0C4-B8FB-4C0B-B2DE-4F670CFAEA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17EAAF8-C7E2-4D41-8630-ABCF8E88C75C}"/>
              </a:ext>
            </a:extLst>
          </p:cNvPr>
          <p:cNvSpPr/>
          <p:nvPr/>
        </p:nvSpPr>
        <p:spPr>
          <a:xfrm>
            <a:off x="5386386" y="479944"/>
            <a:ext cx="6353176" cy="6089131"/>
          </a:xfrm>
          <a:prstGeom prst="rect">
            <a:avLst/>
          </a:prstGeom>
          <a:effectLst>
            <a:softEdge rad="317500"/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EAAFFB45-9DCB-45F0-B11B-977F52162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575" y="288925"/>
            <a:ext cx="10515600" cy="1325563"/>
          </a:xfrm>
        </p:spPr>
        <p:txBody>
          <a:bodyPr/>
          <a:lstStyle/>
          <a:p>
            <a:r>
              <a:rPr lang="ru-RU" b="1" dirty="0">
                <a:latin typeface="Georgia" panose="02040502050405020303" pitchFamily="18" charset="0"/>
              </a:rPr>
              <a:t>Тестирование</a:t>
            </a:r>
          </a:p>
        </p:txBody>
      </p:sp>
      <p:graphicFrame>
        <p:nvGraphicFramePr>
          <p:cNvPr id="10" name="Таблица 7">
            <a:extLst>
              <a:ext uri="{FF2B5EF4-FFF2-40B4-BE49-F238E27FC236}">
                <a16:creationId xmlns:a16="http://schemas.microsoft.com/office/drawing/2014/main" id="{6720F587-85E4-4A11-8C0D-755F5443C8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3773357"/>
              </p:ext>
            </p:extLst>
          </p:nvPr>
        </p:nvGraphicFramePr>
        <p:xfrm>
          <a:off x="183356" y="1495424"/>
          <a:ext cx="4750594" cy="449191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375297">
                  <a:extLst>
                    <a:ext uri="{9D8B030D-6E8A-4147-A177-3AD203B41FA5}">
                      <a16:colId xmlns:a16="http://schemas.microsoft.com/office/drawing/2014/main" val="1410530299"/>
                    </a:ext>
                  </a:extLst>
                </a:gridCol>
                <a:gridCol w="2375297">
                  <a:extLst>
                    <a:ext uri="{9D8B030D-6E8A-4147-A177-3AD203B41FA5}">
                      <a16:colId xmlns:a16="http://schemas.microsoft.com/office/drawing/2014/main" val="1878603811"/>
                    </a:ext>
                  </a:extLst>
                </a:gridCol>
              </a:tblGrid>
              <a:tr h="411019">
                <a:tc>
                  <a:txBody>
                    <a:bodyPr/>
                    <a:lstStyle/>
                    <a:p>
                      <a:pPr algn="l"/>
                      <a:r>
                        <a:rPr lang="ru-RU" sz="1100" b="0" dirty="0">
                          <a:effectLst/>
                        </a:rPr>
                        <a:t>Тест-кейс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b="0" dirty="0">
                          <a:effectLst/>
                        </a:rPr>
                        <a:t>Проверка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724813541"/>
                  </a:ext>
                </a:extLst>
              </a:tr>
              <a:tr h="542069"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1) Запуск приложения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Окно отображается поверх всех окон, прозрачный фон – </a:t>
                      </a:r>
                      <a:r>
                        <a:rPr lang="ru-RU" sz="1100" b="1" dirty="0">
                          <a:effectLst/>
                        </a:rPr>
                        <a:t>Успешно</a:t>
                      </a:r>
                      <a:endParaRPr lang="ru-RU" sz="1100" b="1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878387836"/>
                  </a:ext>
                </a:extLst>
              </a:tr>
              <a:tr h="673118"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2) Выбор нескольких аудиофайлов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Плейлист заполнен, начинается воспроизведение первого трека - </a:t>
                      </a:r>
                      <a:r>
                        <a:rPr lang="ru-RU" sz="1100" b="1" dirty="0">
                          <a:effectLst/>
                        </a:rPr>
                        <a:t>Успешно</a:t>
                      </a:r>
                      <a:endParaRPr lang="ru-RU" sz="1100" b="1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56585593"/>
                  </a:ext>
                </a:extLst>
              </a:tr>
              <a:tr h="673118"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3) </a:t>
                      </a:r>
                      <a:r>
                        <a:rPr lang="en-US" sz="1100" b="0" dirty="0">
                          <a:effectLst/>
                        </a:rPr>
                        <a:t>Play/Pause</a:t>
                      </a:r>
                      <a:endParaRPr lang="en-US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Кнопка меняет состояние, музыка ставится на паузу/продолжается - </a:t>
                      </a:r>
                      <a:r>
                        <a:rPr lang="ru-RU" sz="1100" b="1" dirty="0">
                          <a:effectLst/>
                        </a:rPr>
                        <a:t>Успешно</a:t>
                      </a:r>
                      <a:endParaRPr lang="ru-RU" sz="1100" b="1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3490543823"/>
                  </a:ext>
                </a:extLst>
              </a:tr>
              <a:tr h="542069"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4) Перемотка ±5 сек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Позиция изменяется в пределах длительности - </a:t>
                      </a:r>
                      <a:r>
                        <a:rPr lang="ru-RU" sz="1100" b="1" dirty="0">
                          <a:effectLst/>
                        </a:rPr>
                        <a:t>Успешно</a:t>
                      </a:r>
                      <a:endParaRPr lang="ru-RU" sz="1100" b="1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606402223"/>
                  </a:ext>
                </a:extLst>
              </a:tr>
              <a:tr h="542069"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5) </a:t>
                      </a:r>
                      <a:r>
                        <a:rPr lang="ru-RU" sz="1100" b="0" dirty="0" err="1">
                          <a:effectLst/>
                        </a:rPr>
                        <a:t>Автопереход</a:t>
                      </a:r>
                      <a:r>
                        <a:rPr lang="ru-RU" sz="1100" b="0" dirty="0">
                          <a:effectLst/>
                        </a:rPr>
                        <a:t> на следующий трек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По окончании трека загружается следующий - </a:t>
                      </a:r>
                      <a:r>
                        <a:rPr lang="ru-RU" sz="1100" b="1" dirty="0">
                          <a:effectLst/>
                        </a:rPr>
                        <a:t>Успешно</a:t>
                      </a:r>
                      <a:endParaRPr lang="ru-RU" sz="1100" b="1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2788542548"/>
                  </a:ext>
                </a:extLst>
              </a:tr>
              <a:tr h="542069"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6) Масштабирование (+) / (–)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Размер окна и SVG изменяются, масштаб не меньше 1.0 - </a:t>
                      </a:r>
                      <a:r>
                        <a:rPr lang="ru-RU" sz="1100" b="1" dirty="0">
                          <a:effectLst/>
                        </a:rPr>
                        <a:t>Успешно</a:t>
                      </a:r>
                      <a:endParaRPr lang="ru-RU" sz="1100" b="1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3472713631"/>
                  </a:ext>
                </a:extLst>
              </a:tr>
              <a:tr h="455643"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7) Воспроизведение форматов .</a:t>
                      </a:r>
                      <a:r>
                        <a:rPr lang="ru-RU" sz="1100" b="0" dirty="0" err="1">
                          <a:effectLst/>
                        </a:rPr>
                        <a:t>ogg</a:t>
                      </a:r>
                      <a:r>
                        <a:rPr lang="ru-RU" sz="1100" b="0" dirty="0">
                          <a:effectLst/>
                        </a:rPr>
                        <a:t>, .m4a, .</a:t>
                      </a:r>
                      <a:r>
                        <a:rPr lang="ru-RU" sz="1100" b="0" dirty="0" err="1">
                          <a:effectLst/>
                        </a:rPr>
                        <a:t>wav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Воспроизведение разных форматов 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952658882"/>
                  </a:ext>
                </a:extLst>
              </a:tr>
            </a:tbl>
          </a:graphicData>
        </a:graphic>
      </p:graphicFrame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A82BF1A8-5724-46F5-AC40-0EBAC2D241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9024" y="1495424"/>
            <a:ext cx="5458587" cy="4467849"/>
          </a:xfrm>
          <a:prstGeom prst="rect">
            <a:avLst/>
          </a:prstGeom>
        </p:spPr>
      </p:pic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7234EA94-CD1F-44B4-AC82-DDEE0893F242}"/>
              </a:ext>
            </a:extLst>
          </p:cNvPr>
          <p:cNvSpPr/>
          <p:nvPr/>
        </p:nvSpPr>
        <p:spPr>
          <a:xfrm>
            <a:off x="5262562" y="416545"/>
            <a:ext cx="3738563" cy="894937"/>
          </a:xfrm>
          <a:prstGeom prst="roundRect">
            <a:avLst/>
          </a:prstGeom>
          <a:solidFill>
            <a:srgbClr val="5A99D3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ru-RU" sz="1800" b="0" kern="1200" dirty="0">
                <a:solidFill>
                  <a:srgbClr val="FFFFFF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Масштабирование + - </a:t>
            </a:r>
            <a:endParaRPr lang="ru-RU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0622901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78DD0C4-B8FB-4C0B-B2DE-4F670CFAEA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17EAAF8-C7E2-4D41-8630-ABCF8E88C75C}"/>
              </a:ext>
            </a:extLst>
          </p:cNvPr>
          <p:cNvSpPr/>
          <p:nvPr/>
        </p:nvSpPr>
        <p:spPr>
          <a:xfrm>
            <a:off x="5386386" y="479944"/>
            <a:ext cx="6353176" cy="6089131"/>
          </a:xfrm>
          <a:prstGeom prst="rect">
            <a:avLst/>
          </a:prstGeom>
          <a:effectLst>
            <a:softEdge rad="317500"/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EAAFFB45-9DCB-45F0-B11B-977F52162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575" y="288925"/>
            <a:ext cx="10515600" cy="1325563"/>
          </a:xfrm>
        </p:spPr>
        <p:txBody>
          <a:bodyPr/>
          <a:lstStyle/>
          <a:p>
            <a:r>
              <a:rPr lang="ru-RU" b="1" dirty="0">
                <a:latin typeface="Georgia" panose="02040502050405020303" pitchFamily="18" charset="0"/>
              </a:rPr>
              <a:t>Тестирование</a:t>
            </a:r>
          </a:p>
        </p:txBody>
      </p:sp>
      <p:graphicFrame>
        <p:nvGraphicFramePr>
          <p:cNvPr id="10" name="Таблица 7">
            <a:extLst>
              <a:ext uri="{FF2B5EF4-FFF2-40B4-BE49-F238E27FC236}">
                <a16:creationId xmlns:a16="http://schemas.microsoft.com/office/drawing/2014/main" id="{6720F587-85E4-4A11-8C0D-755F5443C8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6226464"/>
              </p:ext>
            </p:extLst>
          </p:nvPr>
        </p:nvGraphicFramePr>
        <p:xfrm>
          <a:off x="183356" y="1495424"/>
          <a:ext cx="4750594" cy="449191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375297">
                  <a:extLst>
                    <a:ext uri="{9D8B030D-6E8A-4147-A177-3AD203B41FA5}">
                      <a16:colId xmlns:a16="http://schemas.microsoft.com/office/drawing/2014/main" val="1410530299"/>
                    </a:ext>
                  </a:extLst>
                </a:gridCol>
                <a:gridCol w="2375297">
                  <a:extLst>
                    <a:ext uri="{9D8B030D-6E8A-4147-A177-3AD203B41FA5}">
                      <a16:colId xmlns:a16="http://schemas.microsoft.com/office/drawing/2014/main" val="1878603811"/>
                    </a:ext>
                  </a:extLst>
                </a:gridCol>
              </a:tblGrid>
              <a:tr h="411019">
                <a:tc>
                  <a:txBody>
                    <a:bodyPr/>
                    <a:lstStyle/>
                    <a:p>
                      <a:pPr algn="l"/>
                      <a:r>
                        <a:rPr lang="ru-RU" sz="1100" b="0" dirty="0">
                          <a:effectLst/>
                        </a:rPr>
                        <a:t>Тест-кейс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b="0" dirty="0">
                          <a:effectLst/>
                        </a:rPr>
                        <a:t>Проверка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724813541"/>
                  </a:ext>
                </a:extLst>
              </a:tr>
              <a:tr h="542069"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1) Запуск приложения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Окно отображается поверх всех окон, прозрачный фон – </a:t>
                      </a:r>
                      <a:r>
                        <a:rPr lang="ru-RU" sz="1100" b="1" dirty="0">
                          <a:effectLst/>
                        </a:rPr>
                        <a:t>Успешно</a:t>
                      </a:r>
                      <a:endParaRPr lang="ru-RU" sz="1100" b="1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878387836"/>
                  </a:ext>
                </a:extLst>
              </a:tr>
              <a:tr h="673118"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2) Выбор нескольких аудиофайлов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Плейлист заполнен, начинается воспроизведение первого трека - </a:t>
                      </a:r>
                      <a:r>
                        <a:rPr lang="ru-RU" sz="1100" b="1" dirty="0">
                          <a:effectLst/>
                        </a:rPr>
                        <a:t>Успешно</a:t>
                      </a:r>
                      <a:endParaRPr lang="ru-RU" sz="1100" b="1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56585593"/>
                  </a:ext>
                </a:extLst>
              </a:tr>
              <a:tr h="673118"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3) </a:t>
                      </a:r>
                      <a:r>
                        <a:rPr lang="en-US" sz="1100" b="0" dirty="0">
                          <a:effectLst/>
                        </a:rPr>
                        <a:t>Play/Pause</a:t>
                      </a:r>
                      <a:endParaRPr lang="en-US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Кнопка меняет состояние, музыка ставится на паузу/продолжается - </a:t>
                      </a:r>
                      <a:r>
                        <a:rPr lang="ru-RU" sz="1100" b="1" dirty="0">
                          <a:effectLst/>
                        </a:rPr>
                        <a:t>Успешно</a:t>
                      </a:r>
                      <a:endParaRPr lang="ru-RU" sz="1100" b="1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3490543823"/>
                  </a:ext>
                </a:extLst>
              </a:tr>
              <a:tr h="542069"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4) Перемотка ±5 сек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Позиция изменяется в пределах длительности - </a:t>
                      </a:r>
                      <a:r>
                        <a:rPr lang="ru-RU" sz="1100" b="1" dirty="0">
                          <a:effectLst/>
                        </a:rPr>
                        <a:t>Успешно</a:t>
                      </a:r>
                      <a:endParaRPr lang="ru-RU" sz="1100" b="1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606402223"/>
                  </a:ext>
                </a:extLst>
              </a:tr>
              <a:tr h="542069"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5) </a:t>
                      </a:r>
                      <a:r>
                        <a:rPr lang="ru-RU" sz="1100" b="0" dirty="0" err="1">
                          <a:effectLst/>
                        </a:rPr>
                        <a:t>Автопереход</a:t>
                      </a:r>
                      <a:r>
                        <a:rPr lang="ru-RU" sz="1100" b="0" dirty="0">
                          <a:effectLst/>
                        </a:rPr>
                        <a:t> на следующий трек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По окончании трека загружается следующий - </a:t>
                      </a:r>
                      <a:r>
                        <a:rPr lang="ru-RU" sz="1100" b="1" dirty="0">
                          <a:effectLst/>
                        </a:rPr>
                        <a:t>Успешно</a:t>
                      </a:r>
                      <a:endParaRPr lang="ru-RU" sz="1100" b="1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2788542548"/>
                  </a:ext>
                </a:extLst>
              </a:tr>
              <a:tr h="542069"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6) Масштабирование (+) / (–)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Размер окна и SVG изменяются, масштаб не меньше 1.0 - </a:t>
                      </a:r>
                      <a:r>
                        <a:rPr lang="ru-RU" sz="1100" b="1" dirty="0">
                          <a:effectLst/>
                        </a:rPr>
                        <a:t>Успешно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3472713631"/>
                  </a:ext>
                </a:extLst>
              </a:tr>
              <a:tr h="455643"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7) Воспроизведение форматов .</a:t>
                      </a:r>
                      <a:r>
                        <a:rPr lang="ru-RU" sz="1100" b="0" dirty="0" err="1">
                          <a:effectLst/>
                        </a:rPr>
                        <a:t>ogg</a:t>
                      </a:r>
                      <a:r>
                        <a:rPr lang="ru-RU" sz="1100" b="0" dirty="0">
                          <a:effectLst/>
                        </a:rPr>
                        <a:t>, .m4a, .</a:t>
                      </a:r>
                      <a:r>
                        <a:rPr lang="ru-RU" sz="1100" b="0" dirty="0" err="1">
                          <a:effectLst/>
                        </a:rPr>
                        <a:t>wav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Воспроизведение разных форматов 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952658882"/>
                  </a:ext>
                </a:extLst>
              </a:tr>
            </a:tbl>
          </a:graphicData>
        </a:graphic>
      </p:graphicFrame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2EFBC18-23CD-4C78-A580-83278444AC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9071" y="1357023"/>
            <a:ext cx="5182323" cy="4143953"/>
          </a:xfrm>
          <a:prstGeom prst="rect">
            <a:avLst/>
          </a:prstGeom>
        </p:spPr>
      </p:pic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9B4A5740-A575-4CB9-859B-B86D88D0BD5C}"/>
              </a:ext>
            </a:extLst>
          </p:cNvPr>
          <p:cNvSpPr/>
          <p:nvPr/>
        </p:nvSpPr>
        <p:spPr>
          <a:xfrm>
            <a:off x="5262562" y="416545"/>
            <a:ext cx="3738563" cy="894937"/>
          </a:xfrm>
          <a:prstGeom prst="roundRect">
            <a:avLst/>
          </a:prstGeom>
          <a:solidFill>
            <a:srgbClr val="5A99D3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latin typeface="quote-cjk-patch"/>
              </a:rPr>
              <a:t>Формат </a:t>
            </a:r>
            <a:r>
              <a:rPr lang="en-US" dirty="0">
                <a:latin typeface="quote-cjk-patch"/>
              </a:rPr>
              <a:t>wav</a:t>
            </a:r>
            <a:endParaRPr lang="ru-RU" sz="1800" b="0" dirty="0"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22069150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78DD0C4-B8FB-4C0B-B2DE-4F670CFAEA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17EAAF8-C7E2-4D41-8630-ABCF8E88C75C}"/>
              </a:ext>
            </a:extLst>
          </p:cNvPr>
          <p:cNvSpPr/>
          <p:nvPr/>
        </p:nvSpPr>
        <p:spPr>
          <a:xfrm>
            <a:off x="5386386" y="479944"/>
            <a:ext cx="6353176" cy="6089131"/>
          </a:xfrm>
          <a:prstGeom prst="rect">
            <a:avLst/>
          </a:prstGeom>
          <a:effectLst>
            <a:softEdge rad="317500"/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EAAFFB45-9DCB-45F0-B11B-977F52162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575" y="288925"/>
            <a:ext cx="10515600" cy="1325563"/>
          </a:xfrm>
        </p:spPr>
        <p:txBody>
          <a:bodyPr/>
          <a:lstStyle/>
          <a:p>
            <a:r>
              <a:rPr lang="ru-RU" b="1" dirty="0">
                <a:latin typeface="Georgia" panose="02040502050405020303" pitchFamily="18" charset="0"/>
              </a:rPr>
              <a:t>Тестирование</a:t>
            </a:r>
          </a:p>
        </p:txBody>
      </p:sp>
      <p:graphicFrame>
        <p:nvGraphicFramePr>
          <p:cNvPr id="10" name="Таблица 7">
            <a:extLst>
              <a:ext uri="{FF2B5EF4-FFF2-40B4-BE49-F238E27FC236}">
                <a16:creationId xmlns:a16="http://schemas.microsoft.com/office/drawing/2014/main" id="{6720F587-85E4-4A11-8C0D-755F5443C8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298660"/>
              </p:ext>
            </p:extLst>
          </p:nvPr>
        </p:nvGraphicFramePr>
        <p:xfrm>
          <a:off x="183356" y="1495424"/>
          <a:ext cx="4750594" cy="449191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375297">
                  <a:extLst>
                    <a:ext uri="{9D8B030D-6E8A-4147-A177-3AD203B41FA5}">
                      <a16:colId xmlns:a16="http://schemas.microsoft.com/office/drawing/2014/main" val="1410530299"/>
                    </a:ext>
                  </a:extLst>
                </a:gridCol>
                <a:gridCol w="2375297">
                  <a:extLst>
                    <a:ext uri="{9D8B030D-6E8A-4147-A177-3AD203B41FA5}">
                      <a16:colId xmlns:a16="http://schemas.microsoft.com/office/drawing/2014/main" val="1878603811"/>
                    </a:ext>
                  </a:extLst>
                </a:gridCol>
              </a:tblGrid>
              <a:tr h="411019">
                <a:tc>
                  <a:txBody>
                    <a:bodyPr/>
                    <a:lstStyle/>
                    <a:p>
                      <a:pPr algn="l"/>
                      <a:r>
                        <a:rPr lang="ru-RU" sz="1100" b="0" dirty="0">
                          <a:effectLst/>
                        </a:rPr>
                        <a:t>Тест-кейс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b="0" dirty="0">
                          <a:effectLst/>
                        </a:rPr>
                        <a:t>Проверка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724813541"/>
                  </a:ext>
                </a:extLst>
              </a:tr>
              <a:tr h="542069"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1) Запуск приложения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Окно отображается поверх всех окон, прозрачный фон – </a:t>
                      </a:r>
                      <a:r>
                        <a:rPr lang="ru-RU" sz="1100" b="1" dirty="0">
                          <a:effectLst/>
                        </a:rPr>
                        <a:t>Успешно</a:t>
                      </a:r>
                      <a:endParaRPr lang="ru-RU" sz="1100" b="1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878387836"/>
                  </a:ext>
                </a:extLst>
              </a:tr>
              <a:tr h="673118"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2) Выбор нескольких аудиофайлов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Плейлист заполнен, начинается воспроизведение первого трека - </a:t>
                      </a:r>
                      <a:r>
                        <a:rPr lang="ru-RU" sz="1100" b="1" dirty="0">
                          <a:effectLst/>
                        </a:rPr>
                        <a:t>Успешно</a:t>
                      </a:r>
                      <a:endParaRPr lang="ru-RU" sz="1100" b="1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56585593"/>
                  </a:ext>
                </a:extLst>
              </a:tr>
              <a:tr h="673118"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3) </a:t>
                      </a:r>
                      <a:r>
                        <a:rPr lang="en-US" sz="1100" b="0" dirty="0">
                          <a:effectLst/>
                        </a:rPr>
                        <a:t>Play/Pause</a:t>
                      </a:r>
                      <a:endParaRPr lang="en-US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Кнопка меняет состояние, музыка ставится на паузу/продолжается - </a:t>
                      </a:r>
                      <a:r>
                        <a:rPr lang="ru-RU" sz="1100" b="1" dirty="0">
                          <a:effectLst/>
                        </a:rPr>
                        <a:t>Успешно</a:t>
                      </a:r>
                      <a:endParaRPr lang="ru-RU" sz="1100" b="1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3490543823"/>
                  </a:ext>
                </a:extLst>
              </a:tr>
              <a:tr h="542069"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4) Перемотка ±5 сек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Позиция изменяется в пределах длительности - </a:t>
                      </a:r>
                      <a:r>
                        <a:rPr lang="ru-RU" sz="1100" b="1" dirty="0">
                          <a:effectLst/>
                        </a:rPr>
                        <a:t>Успешно</a:t>
                      </a:r>
                      <a:endParaRPr lang="ru-RU" sz="1100" b="1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606402223"/>
                  </a:ext>
                </a:extLst>
              </a:tr>
              <a:tr h="542069"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5) </a:t>
                      </a:r>
                      <a:r>
                        <a:rPr lang="ru-RU" sz="1100" b="0" dirty="0" err="1">
                          <a:effectLst/>
                        </a:rPr>
                        <a:t>Автопереход</a:t>
                      </a:r>
                      <a:r>
                        <a:rPr lang="ru-RU" sz="1100" b="0" dirty="0">
                          <a:effectLst/>
                        </a:rPr>
                        <a:t> на следующий трек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По окончании трека загружается следующий-  </a:t>
                      </a:r>
                      <a:r>
                        <a:rPr lang="ru-RU" sz="1100" b="1" dirty="0">
                          <a:effectLst/>
                        </a:rPr>
                        <a:t>Успешно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2788542548"/>
                  </a:ext>
                </a:extLst>
              </a:tr>
              <a:tr h="542069"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6) Масштабирование (+) / (–)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Размер окна и SVG изменяются, масштаб не меньше 1.0 - </a:t>
                      </a:r>
                      <a:r>
                        <a:rPr lang="ru-RU" sz="1100" b="1" dirty="0">
                          <a:effectLst/>
                        </a:rPr>
                        <a:t>Успешно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3472713631"/>
                  </a:ext>
                </a:extLst>
              </a:tr>
              <a:tr h="455643"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7) Воспроизведение форматов .</a:t>
                      </a:r>
                      <a:r>
                        <a:rPr lang="ru-RU" sz="1100" b="0" dirty="0" err="1">
                          <a:effectLst/>
                        </a:rPr>
                        <a:t>ogg</a:t>
                      </a:r>
                      <a:r>
                        <a:rPr lang="ru-RU" sz="1100" b="0" dirty="0">
                          <a:effectLst/>
                        </a:rPr>
                        <a:t>, .m4a, .</a:t>
                      </a:r>
                      <a:r>
                        <a:rPr lang="ru-RU" sz="1100" b="0" dirty="0" err="1">
                          <a:effectLst/>
                        </a:rPr>
                        <a:t>wav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Воспроизведение разных форматов 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952658882"/>
                  </a:ext>
                </a:extLst>
              </a:tr>
            </a:tbl>
          </a:graphicData>
        </a:graphic>
      </p:graphicFrame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25D8B73-4B65-4554-BCA0-2084E3ECCB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2439" y="1399892"/>
            <a:ext cx="5048955" cy="4058216"/>
          </a:xfrm>
          <a:prstGeom prst="rect">
            <a:avLst/>
          </a:prstGeom>
        </p:spPr>
      </p:pic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E5B0179E-7694-4956-8E64-BC421414910C}"/>
              </a:ext>
            </a:extLst>
          </p:cNvPr>
          <p:cNvSpPr/>
          <p:nvPr/>
        </p:nvSpPr>
        <p:spPr>
          <a:xfrm>
            <a:off x="5262562" y="416545"/>
            <a:ext cx="3738563" cy="894937"/>
          </a:xfrm>
          <a:prstGeom prst="roundRect">
            <a:avLst/>
          </a:prstGeom>
          <a:solidFill>
            <a:srgbClr val="5A99D3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latin typeface="quote-cjk-patch"/>
              </a:rPr>
              <a:t>Формат </a:t>
            </a:r>
            <a:r>
              <a:rPr lang="en-US" dirty="0">
                <a:latin typeface="quote-cjk-patch"/>
              </a:rPr>
              <a:t>m4a</a:t>
            </a:r>
            <a:endParaRPr lang="ru-RU" sz="1800" b="0" dirty="0"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22617432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78DD0C4-B8FB-4C0B-B2DE-4F670CFAEA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17EAAF8-C7E2-4D41-8630-ABCF8E88C75C}"/>
              </a:ext>
            </a:extLst>
          </p:cNvPr>
          <p:cNvSpPr/>
          <p:nvPr/>
        </p:nvSpPr>
        <p:spPr>
          <a:xfrm>
            <a:off x="5386386" y="479944"/>
            <a:ext cx="6353176" cy="6089131"/>
          </a:xfrm>
          <a:prstGeom prst="rect">
            <a:avLst/>
          </a:prstGeom>
          <a:effectLst>
            <a:softEdge rad="317500"/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EAAFFB45-9DCB-45F0-B11B-977F52162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575" y="288925"/>
            <a:ext cx="10515600" cy="1325563"/>
          </a:xfrm>
        </p:spPr>
        <p:txBody>
          <a:bodyPr/>
          <a:lstStyle/>
          <a:p>
            <a:r>
              <a:rPr lang="ru-RU" b="1" dirty="0">
                <a:latin typeface="Georgia" panose="02040502050405020303" pitchFamily="18" charset="0"/>
              </a:rPr>
              <a:t>Тестирование</a:t>
            </a:r>
          </a:p>
        </p:txBody>
      </p:sp>
      <p:graphicFrame>
        <p:nvGraphicFramePr>
          <p:cNvPr id="10" name="Таблица 7">
            <a:extLst>
              <a:ext uri="{FF2B5EF4-FFF2-40B4-BE49-F238E27FC236}">
                <a16:creationId xmlns:a16="http://schemas.microsoft.com/office/drawing/2014/main" id="{6720F587-85E4-4A11-8C0D-755F5443C8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0466688"/>
              </p:ext>
            </p:extLst>
          </p:nvPr>
        </p:nvGraphicFramePr>
        <p:xfrm>
          <a:off x="183356" y="1495424"/>
          <a:ext cx="4750594" cy="449191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375297">
                  <a:extLst>
                    <a:ext uri="{9D8B030D-6E8A-4147-A177-3AD203B41FA5}">
                      <a16:colId xmlns:a16="http://schemas.microsoft.com/office/drawing/2014/main" val="1410530299"/>
                    </a:ext>
                  </a:extLst>
                </a:gridCol>
                <a:gridCol w="2375297">
                  <a:extLst>
                    <a:ext uri="{9D8B030D-6E8A-4147-A177-3AD203B41FA5}">
                      <a16:colId xmlns:a16="http://schemas.microsoft.com/office/drawing/2014/main" val="1878603811"/>
                    </a:ext>
                  </a:extLst>
                </a:gridCol>
              </a:tblGrid>
              <a:tr h="411019">
                <a:tc>
                  <a:txBody>
                    <a:bodyPr/>
                    <a:lstStyle/>
                    <a:p>
                      <a:pPr algn="l"/>
                      <a:r>
                        <a:rPr lang="ru-RU" sz="1100" b="0" dirty="0">
                          <a:effectLst/>
                        </a:rPr>
                        <a:t>Тест-кейс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b="0" dirty="0">
                          <a:effectLst/>
                        </a:rPr>
                        <a:t>Проверка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724813541"/>
                  </a:ext>
                </a:extLst>
              </a:tr>
              <a:tr h="542069"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1) Запуск приложения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Окно отображается поверх всех окон, прозрачный фон – </a:t>
                      </a:r>
                      <a:r>
                        <a:rPr lang="ru-RU" sz="1100" b="1" dirty="0">
                          <a:effectLst/>
                        </a:rPr>
                        <a:t>Успешно</a:t>
                      </a:r>
                      <a:endParaRPr lang="ru-RU" sz="1100" b="1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878387836"/>
                  </a:ext>
                </a:extLst>
              </a:tr>
              <a:tr h="673118"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2) Выбор нескольких аудиофайлов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Плейлист заполнен, начинается воспроизведение первого трека - </a:t>
                      </a:r>
                      <a:r>
                        <a:rPr lang="ru-RU" sz="1100" b="1" dirty="0">
                          <a:effectLst/>
                        </a:rPr>
                        <a:t>Успешно</a:t>
                      </a:r>
                      <a:endParaRPr lang="ru-RU" sz="1100" b="1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56585593"/>
                  </a:ext>
                </a:extLst>
              </a:tr>
              <a:tr h="673118"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3) </a:t>
                      </a:r>
                      <a:r>
                        <a:rPr lang="en-US" sz="1100" b="0" dirty="0">
                          <a:effectLst/>
                        </a:rPr>
                        <a:t>Play/Pause</a:t>
                      </a:r>
                      <a:endParaRPr lang="en-US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Кнопка меняет состояние, музыка ставится на паузу/продолжается - </a:t>
                      </a:r>
                      <a:r>
                        <a:rPr lang="ru-RU" sz="1100" b="1" dirty="0">
                          <a:effectLst/>
                        </a:rPr>
                        <a:t>Успешно</a:t>
                      </a:r>
                      <a:endParaRPr lang="ru-RU" sz="1100" b="1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3490543823"/>
                  </a:ext>
                </a:extLst>
              </a:tr>
              <a:tr h="542069"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4) Перемотка ±5 сек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Позиция изменяется в пределах длительности - </a:t>
                      </a:r>
                      <a:r>
                        <a:rPr lang="ru-RU" sz="1100" b="1" dirty="0">
                          <a:effectLst/>
                        </a:rPr>
                        <a:t>Успешно</a:t>
                      </a:r>
                      <a:endParaRPr lang="ru-RU" sz="1100" b="1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606402223"/>
                  </a:ext>
                </a:extLst>
              </a:tr>
              <a:tr h="542069"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5) </a:t>
                      </a:r>
                      <a:r>
                        <a:rPr lang="ru-RU" sz="1100" b="0" dirty="0" err="1">
                          <a:effectLst/>
                        </a:rPr>
                        <a:t>Автопереход</a:t>
                      </a:r>
                      <a:r>
                        <a:rPr lang="ru-RU" sz="1100" b="0" dirty="0">
                          <a:effectLst/>
                        </a:rPr>
                        <a:t> на следующий трек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По окончании трека загружается следующий - </a:t>
                      </a:r>
                      <a:r>
                        <a:rPr lang="ru-RU" sz="1100" b="1" dirty="0">
                          <a:effectLst/>
                        </a:rPr>
                        <a:t>Успешно</a:t>
                      </a:r>
                      <a:endParaRPr lang="ru-RU" sz="1100" b="1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2788542548"/>
                  </a:ext>
                </a:extLst>
              </a:tr>
              <a:tr h="542069"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6) Масштабирование (+) / (–)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Размер окна и SVG изменяются, масштаб не меньше 1.0 - </a:t>
                      </a:r>
                      <a:r>
                        <a:rPr lang="ru-RU" sz="1100" b="1" dirty="0">
                          <a:effectLst/>
                        </a:rPr>
                        <a:t>Успешно</a:t>
                      </a:r>
                      <a:endParaRPr lang="ru-RU" sz="1100" b="1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3472713631"/>
                  </a:ext>
                </a:extLst>
              </a:tr>
              <a:tr h="455643"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7) Воспроизведение форматов .</a:t>
                      </a:r>
                      <a:r>
                        <a:rPr lang="en-US" sz="1100" b="0" dirty="0">
                          <a:effectLst/>
                        </a:rPr>
                        <a:t>wav</a:t>
                      </a:r>
                      <a:r>
                        <a:rPr lang="ru-RU" sz="1100" b="0" dirty="0">
                          <a:effectLst/>
                        </a:rPr>
                        <a:t>, .m4a, .</a:t>
                      </a:r>
                      <a:r>
                        <a:rPr lang="en-US" sz="1100" b="0" dirty="0" err="1">
                          <a:effectLst/>
                        </a:rPr>
                        <a:t>flac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</a:rPr>
                        <a:t>Воспроизведение разных форматов </a:t>
                      </a:r>
                      <a:r>
                        <a:rPr lang="en-US" sz="1100" b="0" dirty="0">
                          <a:effectLst/>
                        </a:rPr>
                        <a:t>- </a:t>
                      </a:r>
                      <a:r>
                        <a:rPr lang="ru-RU" sz="1100" b="1" dirty="0">
                          <a:effectLst/>
                        </a:rPr>
                        <a:t>Успешно</a:t>
                      </a:r>
                      <a:endParaRPr lang="ru-RU" sz="1100" b="1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952658882"/>
                  </a:ext>
                </a:extLst>
              </a:tr>
            </a:tbl>
          </a:graphicData>
        </a:graphic>
      </p:graphicFrame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FF4482B-28FB-4E79-AAA8-EFF573FF9C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0071" y="1328444"/>
            <a:ext cx="5001323" cy="4201111"/>
          </a:xfrm>
          <a:prstGeom prst="rect">
            <a:avLst/>
          </a:prstGeom>
        </p:spPr>
      </p:pic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7F56BB05-0EF5-423E-B21E-D4524A10BFFA}"/>
              </a:ext>
            </a:extLst>
          </p:cNvPr>
          <p:cNvSpPr/>
          <p:nvPr/>
        </p:nvSpPr>
        <p:spPr>
          <a:xfrm>
            <a:off x="5262562" y="416545"/>
            <a:ext cx="3738563" cy="894937"/>
          </a:xfrm>
          <a:prstGeom prst="roundRect">
            <a:avLst/>
          </a:prstGeom>
          <a:solidFill>
            <a:srgbClr val="5A99D3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latin typeface="quote-cjk-patch"/>
              </a:rPr>
              <a:t>Формат </a:t>
            </a:r>
            <a:r>
              <a:rPr lang="en-US" dirty="0" err="1">
                <a:latin typeface="quote-cjk-patch"/>
              </a:rPr>
              <a:t>flac</a:t>
            </a:r>
            <a:endParaRPr lang="ru-RU" sz="1800" b="0" dirty="0"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36863537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DA80852-6914-4891-B07E-FF8EDC5115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827257-5348-44CF-9D68-6687D78FB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61318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ru-RU" sz="7200" b="1" dirty="0">
                <a:latin typeface="Georgia" panose="02040502050405020303" pitchFamily="18" charset="0"/>
              </a:rPr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350647449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162</TotalTime>
  <Words>1518</Words>
  <Application>Microsoft Office PowerPoint</Application>
  <PresentationFormat>Широкоэкранный</PresentationFormat>
  <Paragraphs>245</Paragraphs>
  <Slides>20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7" baseType="lpstr">
      <vt:lpstr>Arial</vt:lpstr>
      <vt:lpstr>Calibri</vt:lpstr>
      <vt:lpstr>Calibri Light</vt:lpstr>
      <vt:lpstr>Georgia</vt:lpstr>
      <vt:lpstr>quote-cjk-patch</vt:lpstr>
      <vt:lpstr>Verdana</vt:lpstr>
      <vt:lpstr>Тема Office</vt:lpstr>
      <vt:lpstr>Десктопный проигрыватель с SVG-интерфейсом «AuddioPlayer»</vt:lpstr>
      <vt:lpstr>Цель и актуальность</vt:lpstr>
      <vt:lpstr>Задачи проекта</vt:lpstr>
      <vt:lpstr>Функциональные требования</vt:lpstr>
      <vt:lpstr>Нефункциональные требования</vt:lpstr>
      <vt:lpstr>Используемые технологии </vt:lpstr>
      <vt:lpstr>Анализ аналогов</vt:lpstr>
      <vt:lpstr>Архитектура приложения</vt:lpstr>
      <vt:lpstr>Презентация PowerPoint</vt:lpstr>
      <vt:lpstr>Тестирование</vt:lpstr>
      <vt:lpstr>Тестирование</vt:lpstr>
      <vt:lpstr>Тестирование</vt:lpstr>
      <vt:lpstr>Тестирование</vt:lpstr>
      <vt:lpstr>Тестирование</vt:lpstr>
      <vt:lpstr>Тестирование</vt:lpstr>
      <vt:lpstr>Тестирование</vt:lpstr>
      <vt:lpstr>Тестирование</vt:lpstr>
      <vt:lpstr>Тестирование</vt:lpstr>
      <vt:lpstr>Тестирование</vt:lpstr>
      <vt:lpstr>Спасибо за внимание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Десктопный проигрыватель с SVG-интерфейсом «AuddioPlayer»</dc:title>
  <dc:creator>ThinkPad</dc:creator>
  <cp:lastModifiedBy>ThinkPad</cp:lastModifiedBy>
  <cp:revision>19</cp:revision>
  <dcterms:created xsi:type="dcterms:W3CDTF">2026-04-08T18:28:53Z</dcterms:created>
  <dcterms:modified xsi:type="dcterms:W3CDTF">2026-04-08T21:44:51Z</dcterms:modified>
</cp:coreProperties>
</file>